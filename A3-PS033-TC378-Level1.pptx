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201f400c2a49e6" /><Relationship Type="http://schemas.openxmlformats.org/officeDocument/2006/relationships/extended-properties" Target="/docProps/app.xml" Id="R360621a674594110" /><Relationship Type="http://schemas.openxmlformats.org/officeDocument/2006/relationships/officeDocument" Target="/ppt/presentation.xml" Id="Re10ca4b06b154cbb" /></Relationships>
</file>

<file path=ppt/presentation.xml><?xml version="1.0" encoding="utf-8"?>
<p:presentation xmlns:p="http://schemas.openxmlformats.org/presentationml/2006/main">
  <p:sldMasterIdLst>
    <p:sldMasterId xmlns:r="http://schemas.openxmlformats.org/officeDocument/2006/relationships" id="2147483648" r:id="R4f61b3db56074fc8"/>
  </p:sldMasterIdLst>
  <p:notesMasterIdLst>
    <p:notesMasterId xmlns:r="http://schemas.openxmlformats.org/officeDocument/2006/relationships" r:id="Rf2390981c82c446c"/>
  </p:notesMasterIdLst>
  <p:sldIdLst>
    <p:sldId xmlns:r="http://schemas.openxmlformats.org/officeDocument/2006/relationships" id="256" r:id="Rb0aebea96e62432a"/>
    <p:sldId xmlns:r="http://schemas.openxmlformats.org/officeDocument/2006/relationships" id="257" r:id="R5b53ddb653374918"/>
    <p:sldId xmlns:r="http://schemas.openxmlformats.org/officeDocument/2006/relationships" id="258" r:id="Rbb018c168d16475a"/>
    <p:sldId xmlns:r="http://schemas.openxmlformats.org/officeDocument/2006/relationships" id="259" r:id="R0f6ca61c3ad84afd"/>
    <p:sldId xmlns:r="http://schemas.openxmlformats.org/officeDocument/2006/relationships" id="260" r:id="Rc5a5453393dd45c9"/>
    <p:sldId xmlns:r="http://schemas.openxmlformats.org/officeDocument/2006/relationships" id="261" r:id="R70e2568495f1449a"/>
    <p:sldId xmlns:r="http://schemas.openxmlformats.org/officeDocument/2006/relationships" id="262" r:id="R26f26c21fa224c56"/>
    <p:sldId xmlns:r="http://schemas.openxmlformats.org/officeDocument/2006/relationships" id="263" r:id="Rc356cea8447f4615"/>
    <p:sldId xmlns:r="http://schemas.openxmlformats.org/officeDocument/2006/relationships" id="264" r:id="Re5340cc9c98f4a7f"/>
    <p:sldId xmlns:r="http://schemas.openxmlformats.org/officeDocument/2006/relationships" id="265" r:id="R2c7bade4ed6149a2"/>
    <p:sldId xmlns:r="http://schemas.openxmlformats.org/officeDocument/2006/relationships" id="266" r:id="R0008b14763f3400d"/>
  </p:sldIdLst>
  <p:sldSz cx="5759996" cy="323999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ccd2708b6d4a10" /><Relationship Type="http://schemas.openxmlformats.org/officeDocument/2006/relationships/slideMaster" Target="/ppt/slideMasters/slideMaster1.xml" Id="R4f61b3db56074fc8" /><Relationship Type="http://schemas.openxmlformats.org/officeDocument/2006/relationships/notesMaster" Target="/ppt/notesMasters/notesMaster1.xml" Id="Rf2390981c82c446c" /><Relationship Type="http://schemas.openxmlformats.org/officeDocument/2006/relationships/presProps" Target="/ppt/presProps.xml" Id="Rf7be85653cd4446f" /><Relationship Type="http://schemas.openxmlformats.org/officeDocument/2006/relationships/tableStyles" Target="/ppt/tableStyles.xml" Id="Re8ea775a58ce4f05" /><Relationship Type="http://schemas.openxmlformats.org/officeDocument/2006/relationships/slide" Target="/ppt/slides/slide1.xml" Id="Rb0aebea96e62432a" /><Relationship Type="http://schemas.openxmlformats.org/officeDocument/2006/relationships/slide" Target="/ppt/slides/slide2.xml" Id="R5b53ddb653374918" /><Relationship Type="http://schemas.openxmlformats.org/officeDocument/2006/relationships/slide" Target="/ppt/slides/slide3.xml" Id="Rbb018c168d16475a" /><Relationship Type="http://schemas.openxmlformats.org/officeDocument/2006/relationships/slide" Target="/ppt/slides/slide4.xml" Id="R0f6ca61c3ad84afd" /><Relationship Type="http://schemas.openxmlformats.org/officeDocument/2006/relationships/slide" Target="/ppt/slides/slide5.xml" Id="Rc5a5453393dd45c9" /><Relationship Type="http://schemas.openxmlformats.org/officeDocument/2006/relationships/slide" Target="/ppt/slides/slide6.xml" Id="R70e2568495f1449a" /><Relationship Type="http://schemas.openxmlformats.org/officeDocument/2006/relationships/slide" Target="/ppt/slides/slide7.xml" Id="R26f26c21fa224c56" /><Relationship Type="http://schemas.openxmlformats.org/officeDocument/2006/relationships/slide" Target="/ppt/slides/slide8.xml" Id="Rc356cea8447f4615" /><Relationship Type="http://schemas.openxmlformats.org/officeDocument/2006/relationships/slide" Target="/ppt/slides/slide9.xml" Id="Re5340cc9c98f4a7f" /><Relationship Type="http://schemas.openxmlformats.org/officeDocument/2006/relationships/slide" Target="/ppt/slides/slide10.xml" Id="R2c7bade4ed6149a2" /><Relationship Type="http://schemas.openxmlformats.org/officeDocument/2006/relationships/slide" Target="/ppt/slides/slide11.xml" Id="R0008b14763f340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1f67fd4b3e48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6f0232f91e4f19" /><Relationship Type="http://schemas.openxmlformats.org/officeDocument/2006/relationships/notesMaster" Target="/ppt/notesMasters/notesMaster1.xml" Id="R76c5fe5d95ce4a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8e763b20b8434b" /><Relationship Type="http://schemas.openxmlformats.org/officeDocument/2006/relationships/notesMaster" Target="/ppt/notesMasters/notesMaster1.xml" Id="Rb3b5047a5da64d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285fa237234dce" /><Relationship Type="http://schemas.openxmlformats.org/officeDocument/2006/relationships/notesMaster" Target="/ppt/notesMasters/notesMaster1.xml" Id="Rf5218346f39548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6b2b9f3ea34db5" /><Relationship Type="http://schemas.openxmlformats.org/officeDocument/2006/relationships/notesMaster" Target="/ppt/notesMasters/notesMaster1.xml" Id="R3da0681a656141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a303a46b094242" /><Relationship Type="http://schemas.openxmlformats.org/officeDocument/2006/relationships/notesMaster" Target="/ppt/notesMasters/notesMaster1.xml" Id="R1fd73f441acf43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eca46d8e2b4266" /><Relationship Type="http://schemas.openxmlformats.org/officeDocument/2006/relationships/notesMaster" Target="/ppt/notesMasters/notesMaster1.xml" Id="R561e0a6b029e46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d354a6bd3943c5" /><Relationship Type="http://schemas.openxmlformats.org/officeDocument/2006/relationships/notesMaster" Target="/ppt/notesMasters/notesMaster1.xml" Id="R3058fd820e8242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e5c5229b0e4ac6" /><Relationship Type="http://schemas.openxmlformats.org/officeDocument/2006/relationships/notesMaster" Target="/ppt/notesMasters/notesMaster1.xml" Id="R83ad3b52be2849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af0c9e4745495f" /><Relationship Type="http://schemas.openxmlformats.org/officeDocument/2006/relationships/notesMaster" Target="/ppt/notesMasters/notesMaster1.xml" Id="R5c154dfe24614f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f14323ec7848dd" /><Relationship Type="http://schemas.openxmlformats.org/officeDocument/2006/relationships/notesMaster" Target="/ppt/notesMasters/notesMaster1.xml" Id="Rb551f069a8bb4e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8a6b31bfdd41bc" /><Relationship Type="http://schemas.openxmlformats.org/officeDocument/2006/relationships/notesMaster" Target="/ppt/notesMasters/notesMaster1.xml" Id="R93fde00ebc564d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team: Chris Itty Biju and Alan Jayan Joseph, guided by Revathi BS, Karunya University of Technology and Sciences. This is PS-033 in Cloud Computing and IoT. The proposal focuses on discovering diagnostic services through signed DNS metadata. Source: supplied PS-033.pdf and organizer presentation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program that stores a diagnostic endpoint as a fixed IP and port can fail when that endpoint moves. Our solution lets it discover connection details through DNS. We then verify the published metadata and authenticate separately before use. The scope is one lab zone, three mock diagnostic services and one client. This is the scope in PS-033.pdf.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DNS is the directory. SVCB is the record format used to publish connection parameters. DNSSEC verifies signed records against a trust anchor. TLS verifies the endpoint identity and protects the connection. A service token gives the caller access to a permitted operation. These checks have different jobs. Authentic metadata does not prove that a service is trustworthy or authorize a call. Sources: https://datatracker.ietf.org/doc/html/draft-mozleywilliams-dnsop-dnsaid-02; https://www.rfc-editor.org/rfc/rfc9460.html; https://www.rfc-editor.org/rfc/rfc4033.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pin is draft-mozleywilliams-dnsop-dnsaid-02, dated 27 May 2026. It is an individual Internet-Draft and remains work in progress. Section 3.1 covers known-agent discovery and section 6 discusses security. RFC 9460 specifies SVCB. RFCs 4033, 4034 and 4035 describe DNSSEC. The lab uses local private-use keys for capability and invocation path; these are documented extensions, not assigned DNS-AID parameter numbers. References: https://datatracker.ietf.org/doc/html/draft-mozleywilliams-dnsop-dnsaid-02; https://www.rfc-editor.org/rfc/rfc9460.html; https://www.rfc-editor.org/rfc/rfc4034; https://www.rfc-editor.org/rfc/rfc4035.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publisher generates and signs a diag.test zone. Three services represent latency, traceroute and system health. The client verifies SVCB and address signatures, checks the metadata, verifies TLS and uses a per-service credential. The existing local prototype uses real DNS, DNSSEC, TLS and HTTP. Its diagnostic outputs are fixtures, labelled mock. It uses a locally provisioned trust anchor, not a public DNS root chain. Source: current lab.py and docs/PROTOCOL.md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describes expected behavior, not measured speed improvements. The current demo changes service ports through the publisher without changing discovery-client code. Signature failures and malformed metadata produce different errors. Credentials remain separate from discovery. TTL-aware caching is proposed future work; we will measure cold and warm lookup times after implementing it. Sources: PS-033.pdf, current lab.py and project protocol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component diagram shows dependencies. The publisher writes a signed zone served by the DNS listener. The discovery client queries that listener and validates records. Local provisioning provides the public DNS trust anchor, TLS trust material and service credentials through separate configuration. After the checks, the client invokes three separate mock service listeners. The initial implementation shares one laptop; later deployment can separate the components. DNS signing private keys stay with the publisher and are not sent to the client. Source: project implementation and PS-033.pdf.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from a known logical service name. Query SVCB, verify the signature and metadata, then query and verify the address record. Only after these checks does the client connect through TLS and present a token. The service authenticates the caller and returns a mock result. Failures stop the flow at their respective stage. Bogus signatures are different from correctly signed but malformed metadata. Missing service listeners and wrong credentials are additional negative cases. Source: lab.py and PS-033.pdf.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dates 14 October and 16-31 October come from the organizer guidelines. We target 13 October internally for readiness, because the page does not give an exact cutoff time. The local starter exists. We will use the preparation phase for team understanding, slides, video, and GitHub coordination. Later mentoring focuses on deployment separation and evaluation. Source: https://portal.aiori.in/aiori-3/hackathon-guideline/.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references: DNS-AID -02: https://datatracker.ietf.org/doc/html/draft-mozleywilliams-dnsop-dnsaid-02</a:t>
            </a:r>
          </a:p>
          <a:p xmlns:a="http://schemas.openxmlformats.org/drawingml/2006/main">
            <a:r>
              <a:t>RFC 9460: https://www.rfc-editor.org/rfc/rfc9460.html</a:t>
            </a:r>
          </a:p>
          <a:p xmlns:a="http://schemas.openxmlformats.org/drawingml/2006/main">
            <a:r>
              <a:t>RFC 4033: https://www.rfc-editor.org/rfc/rfc4033</a:t>
            </a:r>
          </a:p>
          <a:p xmlns:a="http://schemas.openxmlformats.org/drawingml/2006/main">
            <a:r>
              <a:t>RFC 4034: https://www.rfc-editor.org/rfc/rfc4034</a:t>
            </a:r>
          </a:p>
          <a:p xmlns:a="http://schemas.openxmlformats.org/drawingml/2006/main">
            <a:r>
              <a:t>RFC 4035: https://www.rfc-editor.org/rfc/rfc4035</a:t>
            </a:r>
          </a:p>
          <a:p xmlns:a="http://schemas.openxmlformats.org/drawingml/2006/main">
            <a:r>
              <a:t>Official guidelines: https://portal.aiori.in/aiori-3/hackathon-guideline/</a:t>
            </a:r>
          </a:p>
          <a:p xmlns:a="http://schemas.openxmlformats.org/drawingml/2006/main">
            <a:r>
              <a:t>Local sources: PS-033.pdf and Proposed-structure-hackathon.pdf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project goal: discover diagnostic services dynamically while keeping metadata integrity and service access separate. Proposed responsibilities: Chris focuses on DNS publication and validation, Alan on the client and mock services, and Revathi BS on review and mentoring. These roles are suggestions to confirm before recording. Invite questions about why DNSSEC does not grant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a158dfc9194a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c50693aa494fdb" /><Relationship Type="http://schemas.openxmlformats.org/officeDocument/2006/relationships/slideLayout" Target="/ppt/slideLayouts/slideLayout1.xml" Id="R82e9f9edd8374b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e9f9edd8374b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9c75f0847749d7" /><Relationship Type="http://schemas.openxmlformats.org/officeDocument/2006/relationships/image" Target="/ppt/media/image.png" Id="R8c0e919ab6be449a" /><Relationship Type="http://schemas.openxmlformats.org/officeDocument/2006/relationships/notesSlide" Target="/ppt/notesSlides/notesSlide1.xml" Id="Rb0aa1a76d4fa43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45adb170174cb0" /><Relationship Type="http://schemas.openxmlformats.org/officeDocument/2006/relationships/notesSlide" Target="/ppt/notesSlides/notesSlide2.xml" Id="R61a496f9d0414b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c6eb77b7a64368" /><Relationship Type="http://schemas.openxmlformats.org/officeDocument/2006/relationships/notesSlide" Target="/ppt/notesSlides/notesSlide3.xml" Id="R4670d9a8a0c34e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2049c249814d1a" /><Relationship Type="http://schemas.openxmlformats.org/officeDocument/2006/relationships/notesSlide" Target="/ppt/notesSlides/notesSlide4.xml" Id="R04df38a7749d45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d07900b32d476b" /><Relationship Type="http://schemas.openxmlformats.org/officeDocument/2006/relationships/notesSlide" Target="/ppt/notesSlides/notesSlide5.xml" Id="R2c18b849164e41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30393ff88d4ba6" /><Relationship Type="http://schemas.openxmlformats.org/officeDocument/2006/relationships/notesSlide" Target="/ppt/notesSlides/notesSlide6.xml" Id="Rcdad28bb9fc547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bc6d68ca844f37" /><Relationship Type="http://schemas.openxmlformats.org/officeDocument/2006/relationships/notesSlide" Target="/ppt/notesSlides/notesSlide7.xml" Id="Rd200dfc4cf9046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7b4b3d37304b32" /><Relationship Type="http://schemas.openxmlformats.org/officeDocument/2006/relationships/notesSlide" Target="/ppt/notesSlides/notesSlide8.xml" Id="R5889d9e8fd4045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7ea7817cf74607" /><Relationship Type="http://schemas.openxmlformats.org/officeDocument/2006/relationships/notesSlide" Target="/ppt/notesSlides/notesSlide9.xml" Id="Rb37727ef103f43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6f0fc00858499b" /><Relationship Type="http://schemas.openxmlformats.org/officeDocument/2006/relationships/notesSlide" Target="/ppt/notesSlides/notesSlide10.xml" Id="Re5dbeb673c2841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22244daf624c21" /><Relationship Type="http://schemas.openxmlformats.org/officeDocument/2006/relationships/notesSlide" Target="/ppt/notesSlides/notesSlide11.xml" Id="Re4cef6b7146f4d0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A3C504-CEBF-4710-A4A4-3432D7C1B72B}"/>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Level 1 proposal</a:t>
            </a:r>
          </a:p>
        </p:txBody>
      </p:sp>
      <p:sp>
        <p:nvSpPr>
          <p:cNvPr id="2" name="">
            <a:extLst xmlns:a="http://schemas.openxmlformats.org/drawingml/2006/main">
              <a:ext uri="{FF2B5EF4-FFF2-40B4-BE49-F238E27FC236}">
                <a16:creationId xmlns:a16="http://schemas.microsoft.com/office/drawing/2014/main" id="{59F1DEF7-33BF-468C-B10D-59E1985DC9F9}"/>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3" name="">
            <a:extLst xmlns:a="http://schemas.openxmlformats.org/drawingml/2006/main">
              <a:ext uri="{FF2B5EF4-FFF2-40B4-BE49-F238E27FC236}">
                <a16:creationId xmlns:a16="http://schemas.microsoft.com/office/drawing/2014/main" id="{C1B5A700-7076-4349-8AFA-E02439111319}"/>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1 / 11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c0e919ab6be449a"/>
          <a:stretch xmlns:a="http://schemas.openxmlformats.org/drawingml/2006/main"/>
        </p:blipFill>
        <p:spPr>
          <a:xfrm xmlns:a="http://schemas.openxmlformats.org/drawingml/2006/main">
            <a:off x="257175" y="221298"/>
            <a:ext cx="533400" cy="52895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E2E9BB-4BAC-45A1-844E-B329454748FB}"/>
              </a:ext>
            </a:extLst>
          </p:cNvPr>
          <p:cNvSpPr>
            <a:spLocks xmlns:a="http://schemas.openxmlformats.org/drawingml/2006/main" noGrp="1"/>
          </p:cNvSpPr>
          <p:nvPr/>
        </p:nvSpPr>
        <p:spPr>
          <a:xfrm xmlns:a="http://schemas.openxmlformats.org/drawingml/2006/main">
            <a:off x="266700" y="9429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17178C"/>
                </a:solidFill>
                <a:latin typeface="Arial"/>
                <a:ea typeface="Arial"/>
                <a:cs typeface="Arial"/>
              </a:defRPr>
            </a:pPr>
            <a:r>
              <a:rPr sz="1875" b="1">
                <a:solidFill>
                  <a:srgbClr val="17178C"/>
                </a:solidFill>
                <a:latin typeface="Arial"/>
                <a:ea typeface="Arial"/>
                <a:cs typeface="Arial"/>
              </a:rPr>
              <a:t>A3-PS033-TC378</a:t>
            </a:r>
          </a:p>
        </p:txBody>
      </p:sp>
      <p:sp>
        <p:nvSpPr>
          <p:cNvPr id="6" name="">
            <a:extLst xmlns:a="http://schemas.openxmlformats.org/drawingml/2006/main">
              <a:ext uri="{FF2B5EF4-FFF2-40B4-BE49-F238E27FC236}">
                <a16:creationId xmlns:a16="http://schemas.microsoft.com/office/drawing/2014/main" id="{63506CDD-F0C8-4397-A7AC-39B6BC65A3CC}"/>
              </a:ext>
            </a:extLst>
          </p:cNvPr>
          <p:cNvSpPr>
            <a:spLocks xmlns:a="http://schemas.openxmlformats.org/drawingml/2006/main" noGrp="1"/>
          </p:cNvSpPr>
          <p:nvPr/>
        </p:nvSpPr>
        <p:spPr>
          <a:xfrm xmlns:a="http://schemas.openxmlformats.org/drawingml/2006/main">
            <a:off x="266700" y="1304925"/>
            <a:ext cx="5267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20242A"/>
                </a:solidFill>
                <a:latin typeface="Arial"/>
                <a:ea typeface="Arial"/>
                <a:cs typeface="Arial"/>
              </a:defRPr>
            </a:pPr>
            <a:r>
              <a:rPr sz="2025" b="1">
                <a:solidFill>
                  <a:srgbClr val="20242A"/>
                </a:solidFill>
                <a:latin typeface="Arial"/>
                <a:ea typeface="Arial"/>
                <a:cs typeface="Arial"/>
              </a:rPr>
              <a:t>DNS-Based Discovery</a:t>
            </a:r>
          </a:p>
          <a:p xmlns:a="http://schemas.openxmlformats.org/drawingml/2006/main">
            <a:pPr algn="l">
              <a:defRPr sz="2025" b="1">
                <a:solidFill>
                  <a:srgbClr val="20242A"/>
                </a:solidFill>
                <a:latin typeface="Arial"/>
                <a:ea typeface="Arial"/>
                <a:cs typeface="Arial"/>
              </a:defRPr>
            </a:pPr>
            <a:r>
              <a:rPr sz="2025" b="1">
                <a:solidFill>
                  <a:srgbClr val="20242A"/>
                </a:solidFill>
                <a:latin typeface="Arial"/>
                <a:ea typeface="Arial"/>
                <a:cs typeface="Arial"/>
              </a:rPr>
              <a:t>of Diagnostic Services</a:t>
            </a:r>
          </a:p>
        </p:txBody>
      </p:sp>
      <p:sp>
        <p:nvSpPr>
          <p:cNvPr id="7" name="">
            <a:extLst xmlns:a="http://schemas.openxmlformats.org/drawingml/2006/main">
              <a:ext uri="{FF2B5EF4-FFF2-40B4-BE49-F238E27FC236}">
                <a16:creationId xmlns:a16="http://schemas.microsoft.com/office/drawing/2014/main" id="{06E18744-E334-44D1-BD69-3FE54D753551}"/>
              </a:ext>
            </a:extLst>
          </p:cNvPr>
          <p:cNvSpPr>
            <a:spLocks xmlns:a="http://schemas.openxmlformats.org/drawingml/2006/main" noGrp="1"/>
          </p:cNvSpPr>
          <p:nvPr/>
        </p:nvSpPr>
        <p:spPr>
          <a:xfrm xmlns:a="http://schemas.openxmlformats.org/drawingml/2006/main">
            <a:off x="266700" y="2181225"/>
            <a:ext cx="521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0242A"/>
                </a:solidFill>
                <a:latin typeface="Arial"/>
                <a:ea typeface="Arial"/>
                <a:cs typeface="Arial"/>
              </a:defRPr>
            </a:pPr>
            <a:r>
              <a:rPr sz="1125" b="1">
                <a:solidFill>
                  <a:srgbClr val="20242A"/>
                </a:solidFill>
                <a:latin typeface="Arial"/>
                <a:ea typeface="Arial"/>
                <a:cs typeface="Arial"/>
              </a:rPr>
              <a:t>Chris Itty Biju   and   Alan Jayan Joseph</a:t>
            </a:r>
          </a:p>
        </p:txBody>
      </p:sp>
      <p:sp>
        <p:nvSpPr>
          <p:cNvPr id="8" name="">
            <a:extLst xmlns:a="http://schemas.openxmlformats.org/drawingml/2006/main">
              <a:ext uri="{FF2B5EF4-FFF2-40B4-BE49-F238E27FC236}">
                <a16:creationId xmlns:a16="http://schemas.microsoft.com/office/drawing/2014/main" id="{97A94131-8FDD-44A4-BAC0-B154DB46E5BA}"/>
              </a:ext>
            </a:extLst>
          </p:cNvPr>
          <p:cNvSpPr>
            <a:spLocks xmlns:a="http://schemas.openxmlformats.org/drawingml/2006/main" noGrp="1"/>
          </p:cNvSpPr>
          <p:nvPr/>
        </p:nvSpPr>
        <p:spPr>
          <a:xfrm xmlns:a="http://schemas.openxmlformats.org/drawingml/2006/main">
            <a:off x="266700" y="2447925"/>
            <a:ext cx="5219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20242A"/>
                </a:solidFill>
                <a:latin typeface="Arial"/>
                <a:ea typeface="Arial"/>
                <a:cs typeface="Arial"/>
              </a:defRPr>
            </a:pPr>
            <a:r>
              <a:rPr sz="975" b="0">
                <a:solidFill>
                  <a:srgbClr val="20242A"/>
                </a:solidFill>
                <a:latin typeface="Arial"/>
                <a:ea typeface="Arial"/>
                <a:cs typeface="Arial"/>
              </a:rPr>
              <a:t>Faculty mentor: Revathi BS</a:t>
            </a:r>
          </a:p>
        </p:txBody>
      </p:sp>
      <p:sp>
        <p:nvSpPr>
          <p:cNvPr id="9" name="">
            <a:extLst xmlns:a="http://schemas.openxmlformats.org/drawingml/2006/main">
              <a:ext uri="{FF2B5EF4-FFF2-40B4-BE49-F238E27FC236}">
                <a16:creationId xmlns:a16="http://schemas.microsoft.com/office/drawing/2014/main" id="{50AA2C47-AC1C-4F2A-BB6E-4218FD358A5D}"/>
              </a:ext>
            </a:extLst>
          </p:cNvPr>
          <p:cNvSpPr>
            <a:spLocks xmlns:a="http://schemas.openxmlformats.org/drawingml/2006/main" noGrp="1"/>
          </p:cNvSpPr>
          <p:nvPr/>
        </p:nvSpPr>
        <p:spPr>
          <a:xfrm xmlns:a="http://schemas.openxmlformats.org/drawingml/2006/main">
            <a:off x="266700" y="266700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20242A"/>
                </a:solidFill>
                <a:latin typeface="Arial"/>
                <a:ea typeface="Arial"/>
                <a:cs typeface="Arial"/>
              </a:defRPr>
            </a:pPr>
            <a:r>
              <a:rPr sz="975" b="0">
                <a:solidFill>
                  <a:srgbClr val="20242A"/>
                </a:solidFill>
                <a:latin typeface="Arial"/>
                <a:ea typeface="Arial"/>
                <a:cs typeface="Arial"/>
              </a:rPr>
              <a:t>Karunya University of Technology and Sciences</a:t>
            </a:r>
          </a:p>
        </p:txBody>
      </p:sp>
    </p:spTree>
    <p:extLst>
      <p:ext uri="{BB962C8B-B14F-4D97-AF65-F5344CB8AC3E}">
        <p14:creationId xmlns:p14="http://schemas.microsoft.com/office/powerpoint/2010/main" val="1808609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21EAA9-31DD-4929-8925-537AA5953609}"/>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Problem Description</a:t>
            </a:r>
          </a:p>
        </p:txBody>
      </p:sp>
      <p:sp>
        <p:nvSpPr>
          <p:cNvPr id="2" name="">
            <a:extLst xmlns:a="http://schemas.openxmlformats.org/drawingml/2006/main">
              <a:ext uri="{FF2B5EF4-FFF2-40B4-BE49-F238E27FC236}">
                <a16:creationId xmlns:a16="http://schemas.microsoft.com/office/drawing/2014/main" id="{A002431E-FB36-4FEA-98D7-EAD63E593E13}"/>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Abstract</a:t>
            </a:r>
          </a:p>
        </p:txBody>
      </p:sp>
      <p:sp>
        <p:nvSpPr>
          <p:cNvPr id="3" name="">
            <a:extLst xmlns:a="http://schemas.openxmlformats.org/drawingml/2006/main">
              <a:ext uri="{FF2B5EF4-FFF2-40B4-BE49-F238E27FC236}">
                <a16:creationId xmlns:a16="http://schemas.microsoft.com/office/drawing/2014/main" id="{BBB34166-2FAA-4894-90F4-0A6ED9980C03}"/>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B6707070-719C-4131-9A4B-12221291D556}"/>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2 / 11</a:t>
            </a:r>
          </a:p>
        </p:txBody>
      </p:sp>
      <p:sp>
        <p:nvSpPr>
          <p:cNvPr id="5" name="">
            <a:extLst xmlns:a="http://schemas.openxmlformats.org/drawingml/2006/main">
              <a:ext uri="{FF2B5EF4-FFF2-40B4-BE49-F238E27FC236}">
                <a16:creationId xmlns:a16="http://schemas.microsoft.com/office/drawing/2014/main" id="{F4A41411-9BC5-4475-9211-1BCC7BE9B8FF}"/>
              </a:ext>
            </a:extLst>
          </p:cNvPr>
          <p:cNvSpPr>
            <a:spLocks xmlns:a="http://schemas.openxmlformats.org/drawingml/2006/main" noGrp="1"/>
          </p:cNvSpPr>
          <p:nvPr/>
        </p:nvSpPr>
        <p:spPr>
          <a:xfrm xmlns:a="http://schemas.openxmlformats.org/drawingml/2006/main">
            <a:off x="266700" y="80962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Changing service locations</a:t>
            </a:r>
          </a:p>
        </p:txBody>
      </p:sp>
      <p:sp>
        <p:nvSpPr>
          <p:cNvPr id="6" name="">
            <a:extLst xmlns:a="http://schemas.openxmlformats.org/drawingml/2006/main">
              <a:ext uri="{FF2B5EF4-FFF2-40B4-BE49-F238E27FC236}">
                <a16:creationId xmlns:a16="http://schemas.microsoft.com/office/drawing/2014/main" id="{9D7E921E-8EDD-4953-A40D-9BBEF222A1D4}"/>
              </a:ext>
            </a:extLst>
          </p:cNvPr>
          <p:cNvSpPr>
            <a:spLocks xmlns:a="http://schemas.openxmlformats.org/drawingml/2006/main" noGrp="1"/>
          </p:cNvSpPr>
          <p:nvPr/>
        </p:nvSpPr>
        <p:spPr>
          <a:xfrm xmlns:a="http://schemas.openxmlformats.org/drawingml/2006/main">
            <a:off x="266700" y="10382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Hardcoded IP addresses and ports become outdated when diagnostic endpoints move.</a:t>
            </a:r>
          </a:p>
        </p:txBody>
      </p:sp>
      <p:sp>
        <p:nvSpPr>
          <p:cNvPr id="7" name="">
            <a:extLst xmlns:a="http://schemas.openxmlformats.org/drawingml/2006/main">
              <a:ext uri="{FF2B5EF4-FFF2-40B4-BE49-F238E27FC236}">
                <a16:creationId xmlns:a16="http://schemas.microsoft.com/office/drawing/2014/main" id="{E87AA836-C095-49D5-8F0F-4B330DFE7E04}"/>
              </a:ext>
            </a:extLst>
          </p:cNvPr>
          <p:cNvSpPr>
            <a:spLocks xmlns:a="http://schemas.openxmlformats.org/drawingml/2006/main" noGrp="1"/>
          </p:cNvSpPr>
          <p:nvPr/>
        </p:nvSpPr>
        <p:spPr>
          <a:xfrm xmlns:a="http://schemas.openxmlformats.org/drawingml/2006/main">
            <a:off x="266700" y="145732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Unverified connection details</a:t>
            </a:r>
          </a:p>
        </p:txBody>
      </p:sp>
      <p:sp>
        <p:nvSpPr>
          <p:cNvPr id="8" name="">
            <a:extLst xmlns:a="http://schemas.openxmlformats.org/drawingml/2006/main">
              <a:ext uri="{FF2B5EF4-FFF2-40B4-BE49-F238E27FC236}">
                <a16:creationId xmlns:a16="http://schemas.microsoft.com/office/drawing/2014/main" id="{0ED6C2EC-F2FD-46D7-8635-9576BD949085}"/>
              </a:ext>
            </a:extLst>
          </p:cNvPr>
          <p:cNvSpPr>
            <a:spLocks xmlns:a="http://schemas.openxmlformats.org/drawingml/2006/main" noGrp="1"/>
          </p:cNvSpPr>
          <p:nvPr/>
        </p:nvSpPr>
        <p:spPr>
          <a:xfrm xmlns:a="http://schemas.openxmlformats.org/drawingml/2006/main">
            <a:off x="266700" y="16859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The client needs to detect altered DNS data and reject metadata it cannot interpret.</a:t>
            </a:r>
          </a:p>
        </p:txBody>
      </p:sp>
      <p:sp>
        <p:nvSpPr>
          <p:cNvPr id="9" name="">
            <a:extLst xmlns:a="http://schemas.openxmlformats.org/drawingml/2006/main">
              <a:ext uri="{FF2B5EF4-FFF2-40B4-BE49-F238E27FC236}">
                <a16:creationId xmlns:a16="http://schemas.microsoft.com/office/drawing/2014/main" id="{ECAEF291-AA22-4312-B83D-D4E1ECCC36F0}"/>
              </a:ext>
            </a:extLst>
          </p:cNvPr>
          <p:cNvSpPr>
            <a:spLocks xmlns:a="http://schemas.openxmlformats.org/drawingml/2006/main" noGrp="1"/>
          </p:cNvSpPr>
          <p:nvPr/>
        </p:nvSpPr>
        <p:spPr>
          <a:xfrm xmlns:a="http://schemas.openxmlformats.org/drawingml/2006/main">
            <a:off x="266700" y="210502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Proposed approach</a:t>
            </a:r>
          </a:p>
        </p:txBody>
      </p:sp>
      <p:sp>
        <p:nvSpPr>
          <p:cNvPr id="10" name="">
            <a:extLst xmlns:a="http://schemas.openxmlformats.org/drawingml/2006/main">
              <a:ext uri="{FF2B5EF4-FFF2-40B4-BE49-F238E27FC236}">
                <a16:creationId xmlns:a16="http://schemas.microsoft.com/office/drawing/2014/main" id="{13491151-0363-45DF-A661-6654815C5DA0}"/>
              </a:ext>
            </a:extLst>
          </p:cNvPr>
          <p:cNvSpPr>
            <a:spLocks xmlns:a="http://schemas.openxmlformats.org/drawingml/2006/main" noGrp="1"/>
          </p:cNvSpPr>
          <p:nvPr/>
        </p:nvSpPr>
        <p:spPr>
          <a:xfrm xmlns:a="http://schemas.openxmlformats.org/drawingml/2006/main">
            <a:off x="266700" y="23336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Discover service details through signed DNS records, then authenticate before invocation.</a:t>
            </a:r>
          </a:p>
        </p:txBody>
      </p:sp>
    </p:spTree>
    <p:extLst>
      <p:ext uri="{BB962C8B-B14F-4D97-AF65-F5344CB8AC3E}">
        <p14:creationId xmlns:p14="http://schemas.microsoft.com/office/powerpoint/2010/main" val="7938907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3ECF8F3-8CC6-4DE5-B62F-FBEEE846A902}"/>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Background</a:t>
            </a:r>
          </a:p>
        </p:txBody>
      </p:sp>
      <p:sp>
        <p:nvSpPr>
          <p:cNvPr id="2" name="">
            <a:extLst xmlns:a="http://schemas.openxmlformats.org/drawingml/2006/main">
              <a:ext uri="{FF2B5EF4-FFF2-40B4-BE49-F238E27FC236}">
                <a16:creationId xmlns:a16="http://schemas.microsoft.com/office/drawing/2014/main" id="{FD6363BA-A06B-455D-91D6-55D90CD6CD62}"/>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Background</a:t>
            </a:r>
          </a:p>
        </p:txBody>
      </p:sp>
      <p:sp>
        <p:nvSpPr>
          <p:cNvPr id="3" name="">
            <a:extLst xmlns:a="http://schemas.openxmlformats.org/drawingml/2006/main">
              <a:ext uri="{FF2B5EF4-FFF2-40B4-BE49-F238E27FC236}">
                <a16:creationId xmlns:a16="http://schemas.microsoft.com/office/drawing/2014/main" id="{770D5020-09D1-4DF9-8AE9-C1CB014746F5}"/>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9E078E32-B1D1-4F22-BA86-6E8100173E93}"/>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3 / 11</a:t>
            </a:r>
          </a:p>
        </p:txBody>
      </p:sp>
      <p:sp>
        <p:nvSpPr>
          <p:cNvPr id="5" name="">
            <a:extLst xmlns:a="http://schemas.openxmlformats.org/drawingml/2006/main">
              <a:ext uri="{FF2B5EF4-FFF2-40B4-BE49-F238E27FC236}">
                <a16:creationId xmlns:a16="http://schemas.microsoft.com/office/drawing/2014/main" id="{2B0F8540-7258-45F4-89C6-452C1272B78D}"/>
              </a:ext>
            </a:extLst>
          </p:cNvPr>
          <p:cNvSpPr>
            <a:spLocks xmlns:a="http://schemas.openxmlformats.org/drawingml/2006/main" noGrp="1"/>
          </p:cNvSpPr>
          <p:nvPr/>
        </p:nvSpPr>
        <p:spPr>
          <a:xfrm xmlns:a="http://schemas.openxmlformats.org/drawingml/2006/main">
            <a:off x="266700" y="81915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DNS and SVCB</a:t>
            </a:r>
          </a:p>
        </p:txBody>
      </p:sp>
      <p:sp>
        <p:nvSpPr>
          <p:cNvPr id="6" name="">
            <a:extLst xmlns:a="http://schemas.openxmlformats.org/drawingml/2006/main">
              <a:ext uri="{FF2B5EF4-FFF2-40B4-BE49-F238E27FC236}">
                <a16:creationId xmlns:a16="http://schemas.microsoft.com/office/drawing/2014/main" id="{8AB35F4B-3F9C-4F5B-BFF8-F456E4BE5F98}"/>
              </a:ext>
            </a:extLst>
          </p:cNvPr>
          <p:cNvSpPr>
            <a:spLocks xmlns:a="http://schemas.openxmlformats.org/drawingml/2006/main" noGrp="1"/>
          </p:cNvSpPr>
          <p:nvPr/>
        </p:nvSpPr>
        <p:spPr>
          <a:xfrm xmlns:a="http://schemas.openxmlformats.org/drawingml/2006/main">
            <a:off x="266700" y="1047750"/>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Find the service hostname, port and capability metadata.</a:t>
            </a:r>
          </a:p>
        </p:txBody>
      </p:sp>
      <p:sp>
        <p:nvSpPr>
          <p:cNvPr id="7" name="">
            <a:extLst xmlns:a="http://schemas.openxmlformats.org/drawingml/2006/main">
              <a:ext uri="{FF2B5EF4-FFF2-40B4-BE49-F238E27FC236}">
                <a16:creationId xmlns:a16="http://schemas.microsoft.com/office/drawing/2014/main" id="{296FE6FE-F9F7-4233-B9F4-BE0854799769}"/>
              </a:ext>
            </a:extLst>
          </p:cNvPr>
          <p:cNvSpPr>
            <a:spLocks xmlns:a="http://schemas.openxmlformats.org/drawingml/2006/main" noGrp="1"/>
          </p:cNvSpPr>
          <p:nvPr/>
        </p:nvSpPr>
        <p:spPr>
          <a:xfrm xmlns:a="http://schemas.openxmlformats.org/drawingml/2006/main">
            <a:off x="266700" y="143827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DNSSEC</a:t>
            </a:r>
          </a:p>
        </p:txBody>
      </p:sp>
      <p:sp>
        <p:nvSpPr>
          <p:cNvPr id="8" name="">
            <a:extLst xmlns:a="http://schemas.openxmlformats.org/drawingml/2006/main">
              <a:ext uri="{FF2B5EF4-FFF2-40B4-BE49-F238E27FC236}">
                <a16:creationId xmlns:a16="http://schemas.microsoft.com/office/drawing/2014/main" id="{8355CF92-853B-4E72-80E5-4A5B9158D317}"/>
              </a:ext>
            </a:extLst>
          </p:cNvPr>
          <p:cNvSpPr>
            <a:spLocks xmlns:a="http://schemas.openxmlformats.org/drawingml/2006/main" noGrp="1"/>
          </p:cNvSpPr>
          <p:nvPr/>
        </p:nvSpPr>
        <p:spPr>
          <a:xfrm xmlns:a="http://schemas.openxmlformats.org/drawingml/2006/main">
            <a:off x="266700" y="16668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Check the origin and integrity of the published DNS records.</a:t>
            </a:r>
          </a:p>
        </p:txBody>
      </p:sp>
      <p:sp>
        <p:nvSpPr>
          <p:cNvPr id="9" name="">
            <a:extLst xmlns:a="http://schemas.openxmlformats.org/drawingml/2006/main">
              <a:ext uri="{FF2B5EF4-FFF2-40B4-BE49-F238E27FC236}">
                <a16:creationId xmlns:a16="http://schemas.microsoft.com/office/drawing/2014/main" id="{10F2CA03-EF58-4769-A8D9-61B87BE242D8}"/>
              </a:ext>
            </a:extLst>
          </p:cNvPr>
          <p:cNvSpPr>
            <a:spLocks xmlns:a="http://schemas.openxmlformats.org/drawingml/2006/main" noGrp="1"/>
          </p:cNvSpPr>
          <p:nvPr/>
        </p:nvSpPr>
        <p:spPr>
          <a:xfrm xmlns:a="http://schemas.openxmlformats.org/drawingml/2006/main">
            <a:off x="266700" y="205740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TLS and service credentials</a:t>
            </a:r>
          </a:p>
        </p:txBody>
      </p:sp>
      <p:sp>
        <p:nvSpPr>
          <p:cNvPr id="10" name="">
            <a:extLst xmlns:a="http://schemas.openxmlformats.org/drawingml/2006/main">
              <a:ext uri="{FF2B5EF4-FFF2-40B4-BE49-F238E27FC236}">
                <a16:creationId xmlns:a16="http://schemas.microsoft.com/office/drawing/2014/main" id="{6A7FD249-0968-4203-8A74-214BAEA0A3AE}"/>
              </a:ext>
            </a:extLst>
          </p:cNvPr>
          <p:cNvSpPr>
            <a:spLocks xmlns:a="http://schemas.openxmlformats.org/drawingml/2006/main" noGrp="1"/>
          </p:cNvSpPr>
          <p:nvPr/>
        </p:nvSpPr>
        <p:spPr>
          <a:xfrm xmlns:a="http://schemas.openxmlformats.org/drawingml/2006/main">
            <a:off x="266700" y="2286000"/>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Verify the endpoint identity and the caller's permission.</a:t>
            </a:r>
          </a:p>
        </p:txBody>
      </p:sp>
      <p:sp>
        <p:nvSpPr>
          <p:cNvPr id="11" name="">
            <a:extLst xmlns:a="http://schemas.openxmlformats.org/drawingml/2006/main">
              <a:ext uri="{FF2B5EF4-FFF2-40B4-BE49-F238E27FC236}">
                <a16:creationId xmlns:a16="http://schemas.microsoft.com/office/drawing/2014/main" id="{B7FA5D71-9FF1-4A87-ACFD-6FD76F09246A}"/>
              </a:ext>
            </a:extLst>
          </p:cNvPr>
          <p:cNvSpPr>
            <a:spLocks xmlns:a="http://schemas.openxmlformats.org/drawingml/2006/main" noGrp="1"/>
          </p:cNvSpPr>
          <p:nvPr/>
        </p:nvSpPr>
        <p:spPr>
          <a:xfrm xmlns:a="http://schemas.openxmlformats.org/drawingml/2006/main">
            <a:off x="266700" y="2724150"/>
            <a:ext cx="5219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17178C"/>
                </a:solidFill>
                <a:latin typeface="Arial"/>
                <a:ea typeface="Arial"/>
                <a:cs typeface="Arial"/>
              </a:defRPr>
            </a:pPr>
            <a:r>
              <a:rPr sz="1013" b="1">
                <a:solidFill>
                  <a:srgbClr val="17178C"/>
                </a:solidFill>
                <a:latin typeface="Arial"/>
                <a:ea typeface="Arial"/>
                <a:cs typeface="Arial"/>
              </a:rPr>
              <a:t>Valid DNS metadata alone grants no service access.</a:t>
            </a:r>
          </a:p>
        </p:txBody>
      </p:sp>
    </p:spTree>
    <p:extLst>
      <p:ext uri="{BB962C8B-B14F-4D97-AF65-F5344CB8AC3E}">
        <p14:creationId xmlns:p14="http://schemas.microsoft.com/office/powerpoint/2010/main" val="17236780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CCDA66-49E2-4F25-85CB-88E85BFDDD3C}"/>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Literature &amp; RFC Review</a:t>
            </a:r>
          </a:p>
        </p:txBody>
      </p:sp>
      <p:sp>
        <p:nvSpPr>
          <p:cNvPr id="2" name="">
            <a:extLst xmlns:a="http://schemas.openxmlformats.org/drawingml/2006/main">
              <a:ext uri="{FF2B5EF4-FFF2-40B4-BE49-F238E27FC236}">
                <a16:creationId xmlns:a16="http://schemas.microsoft.com/office/drawing/2014/main" id="{09034FB4-10BE-4AFB-ABC0-8056FF5821BF}"/>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Literature &amp; RFC Review</a:t>
            </a:r>
          </a:p>
        </p:txBody>
      </p:sp>
      <p:sp>
        <p:nvSpPr>
          <p:cNvPr id="3" name="">
            <a:extLst xmlns:a="http://schemas.openxmlformats.org/drawingml/2006/main">
              <a:ext uri="{FF2B5EF4-FFF2-40B4-BE49-F238E27FC236}">
                <a16:creationId xmlns:a16="http://schemas.microsoft.com/office/drawing/2014/main" id="{A072BE88-6CE7-4656-872F-4945879DE451}"/>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A671993C-C4C6-4CAB-B51B-C05B9C76E749}"/>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4 / 11</a:t>
            </a:r>
          </a:p>
        </p:txBody>
      </p:sp>
      <p:sp>
        <p:nvSpPr>
          <p:cNvPr id="5" name="">
            <a:extLst xmlns:a="http://schemas.openxmlformats.org/drawingml/2006/main">
              <a:ext uri="{FF2B5EF4-FFF2-40B4-BE49-F238E27FC236}">
                <a16:creationId xmlns:a16="http://schemas.microsoft.com/office/drawing/2014/main" id="{896F3D1D-2BE3-4CA9-A54A-4E6703AA786F}"/>
              </a:ext>
            </a:extLst>
          </p:cNvPr>
          <p:cNvSpPr>
            <a:spLocks xmlns:a="http://schemas.openxmlformats.org/drawingml/2006/main" noGrp="1"/>
          </p:cNvSpPr>
          <p:nvPr/>
        </p:nvSpPr>
        <p:spPr>
          <a:xfrm xmlns:a="http://schemas.openxmlformats.org/drawingml/2006/main">
            <a:off x="266700" y="80962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DNS-AID draft -02</a:t>
            </a:r>
          </a:p>
        </p:txBody>
      </p:sp>
      <p:sp>
        <p:nvSpPr>
          <p:cNvPr id="6" name="">
            <a:extLst xmlns:a="http://schemas.openxmlformats.org/drawingml/2006/main">
              <a:ext uri="{FF2B5EF4-FFF2-40B4-BE49-F238E27FC236}">
                <a16:creationId xmlns:a16="http://schemas.microsoft.com/office/drawing/2014/main" id="{D62ADC59-D57D-4B44-B5AB-F8532BF513FA}"/>
              </a:ext>
            </a:extLst>
          </p:cNvPr>
          <p:cNvSpPr>
            <a:spLocks xmlns:a="http://schemas.openxmlformats.org/drawingml/2006/main" noGrp="1"/>
          </p:cNvSpPr>
          <p:nvPr/>
        </p:nvSpPr>
        <p:spPr>
          <a:xfrm xmlns:a="http://schemas.openxmlformats.org/drawingml/2006/main">
            <a:off x="266700" y="10382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Pinned proposal for known-service discovery and security boundaries. Work in progress.</a:t>
            </a:r>
          </a:p>
        </p:txBody>
      </p:sp>
      <p:sp>
        <p:nvSpPr>
          <p:cNvPr id="7" name="">
            <a:extLst xmlns:a="http://schemas.openxmlformats.org/drawingml/2006/main">
              <a:ext uri="{FF2B5EF4-FFF2-40B4-BE49-F238E27FC236}">
                <a16:creationId xmlns:a16="http://schemas.microsoft.com/office/drawing/2014/main" id="{C5AE3C7C-4E99-4161-9118-65908F9F6C64}"/>
              </a:ext>
            </a:extLst>
          </p:cNvPr>
          <p:cNvSpPr>
            <a:spLocks xmlns:a="http://schemas.openxmlformats.org/drawingml/2006/main" noGrp="1"/>
          </p:cNvSpPr>
          <p:nvPr/>
        </p:nvSpPr>
        <p:spPr>
          <a:xfrm xmlns:a="http://schemas.openxmlformats.org/drawingml/2006/main">
            <a:off x="266700" y="144780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RFC 9460</a:t>
            </a:r>
          </a:p>
        </p:txBody>
      </p:sp>
      <p:sp>
        <p:nvSpPr>
          <p:cNvPr id="8" name="">
            <a:extLst xmlns:a="http://schemas.openxmlformats.org/drawingml/2006/main">
              <a:ext uri="{FF2B5EF4-FFF2-40B4-BE49-F238E27FC236}">
                <a16:creationId xmlns:a16="http://schemas.microsoft.com/office/drawing/2014/main" id="{DBA2DC2E-FA96-486F-8943-92787A526118}"/>
              </a:ext>
            </a:extLst>
          </p:cNvPr>
          <p:cNvSpPr>
            <a:spLocks xmlns:a="http://schemas.openxmlformats.org/drawingml/2006/main" noGrp="1"/>
          </p:cNvSpPr>
          <p:nvPr/>
        </p:nvSpPr>
        <p:spPr>
          <a:xfrm xmlns:a="http://schemas.openxmlformats.org/drawingml/2006/main">
            <a:off x="266700" y="1676400"/>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SVCB ServiceMode records carry connection parameters and mandatory metadata keys.</a:t>
            </a:r>
          </a:p>
        </p:txBody>
      </p:sp>
      <p:sp>
        <p:nvSpPr>
          <p:cNvPr id="9" name="">
            <a:extLst xmlns:a="http://schemas.openxmlformats.org/drawingml/2006/main">
              <a:ext uri="{FF2B5EF4-FFF2-40B4-BE49-F238E27FC236}">
                <a16:creationId xmlns:a16="http://schemas.microsoft.com/office/drawing/2014/main" id="{C4ACC6C3-C54F-4CF7-820B-AD690E81C5E3}"/>
              </a:ext>
            </a:extLst>
          </p:cNvPr>
          <p:cNvSpPr>
            <a:spLocks xmlns:a="http://schemas.openxmlformats.org/drawingml/2006/main" noGrp="1"/>
          </p:cNvSpPr>
          <p:nvPr/>
        </p:nvSpPr>
        <p:spPr>
          <a:xfrm xmlns:a="http://schemas.openxmlformats.org/drawingml/2006/main">
            <a:off x="266700" y="208597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RFC 4033, RFC 4034 and RFC 4035</a:t>
            </a:r>
          </a:p>
        </p:txBody>
      </p:sp>
      <p:sp>
        <p:nvSpPr>
          <p:cNvPr id="10" name="">
            <a:extLst xmlns:a="http://schemas.openxmlformats.org/drawingml/2006/main">
              <a:ext uri="{FF2B5EF4-FFF2-40B4-BE49-F238E27FC236}">
                <a16:creationId xmlns:a16="http://schemas.microsoft.com/office/drawing/2014/main" id="{CEDD86A7-BB12-4A49-B748-145B78D6B9F0}"/>
              </a:ext>
            </a:extLst>
          </p:cNvPr>
          <p:cNvSpPr>
            <a:spLocks xmlns:a="http://schemas.openxmlformats.org/drawingml/2006/main" noGrp="1"/>
          </p:cNvSpPr>
          <p:nvPr/>
        </p:nvSpPr>
        <p:spPr>
          <a:xfrm xmlns:a="http://schemas.openxmlformats.org/drawingml/2006/main">
            <a:off x="266700" y="23145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DNSSEC requirements, signed record formats and validation procedures.</a:t>
            </a:r>
          </a:p>
        </p:txBody>
      </p:sp>
    </p:spTree>
    <p:extLst>
      <p:ext uri="{BB962C8B-B14F-4D97-AF65-F5344CB8AC3E}">
        <p14:creationId xmlns:p14="http://schemas.microsoft.com/office/powerpoint/2010/main" val="1822114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93305A6-CDA0-4B8B-A3EE-15FE72C3BE35}"/>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B0B196DD-2833-49AB-8933-89539C58A477}"/>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Proposed Solution</a:t>
            </a:r>
          </a:p>
        </p:txBody>
      </p:sp>
      <p:sp>
        <p:nvSpPr>
          <p:cNvPr id="3" name="">
            <a:extLst xmlns:a="http://schemas.openxmlformats.org/drawingml/2006/main">
              <a:ext uri="{FF2B5EF4-FFF2-40B4-BE49-F238E27FC236}">
                <a16:creationId xmlns:a16="http://schemas.microsoft.com/office/drawing/2014/main" id="{F84EAF80-016E-40D1-A8C4-18EB0ABC0FF1}"/>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9B9A588E-247C-4294-BB46-7C3FCB91D85E}"/>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5 / 11</a:t>
            </a:r>
          </a:p>
        </p:txBody>
      </p:sp>
      <p:sp>
        <p:nvSpPr>
          <p:cNvPr id="5" name="">
            <a:extLst xmlns:a="http://schemas.openxmlformats.org/drawingml/2006/main">
              <a:ext uri="{FF2B5EF4-FFF2-40B4-BE49-F238E27FC236}">
                <a16:creationId xmlns:a16="http://schemas.microsoft.com/office/drawing/2014/main" id="{EA331784-5616-4C84-8122-F683591C3829}"/>
              </a:ext>
            </a:extLst>
          </p:cNvPr>
          <p:cNvSpPr>
            <a:spLocks xmlns:a="http://schemas.openxmlformats.org/drawingml/2006/main" noGrp="1"/>
          </p:cNvSpPr>
          <p:nvPr/>
        </p:nvSpPr>
        <p:spPr>
          <a:xfrm xmlns:a="http://schemas.openxmlformats.org/drawingml/2006/main">
            <a:off x="266700" y="79057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One signed test zone</a:t>
            </a:r>
          </a:p>
        </p:txBody>
      </p:sp>
      <p:sp>
        <p:nvSpPr>
          <p:cNvPr id="6" name="">
            <a:extLst xmlns:a="http://schemas.openxmlformats.org/drawingml/2006/main">
              <a:ext uri="{FF2B5EF4-FFF2-40B4-BE49-F238E27FC236}">
                <a16:creationId xmlns:a16="http://schemas.microsoft.com/office/drawing/2014/main" id="{96F11D97-02CD-4ECD-BC10-E3F76158594F}"/>
              </a:ext>
            </a:extLst>
          </p:cNvPr>
          <p:cNvSpPr>
            <a:spLocks xmlns:a="http://schemas.openxmlformats.org/drawingml/2006/main" noGrp="1"/>
          </p:cNvSpPr>
          <p:nvPr/>
        </p:nvSpPr>
        <p:spPr>
          <a:xfrm xmlns:a="http://schemas.openxmlformats.org/drawingml/2006/main">
            <a:off x="266700" y="10191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A publisher advertises service connection details in diag.test using SVCB and address records.</a:t>
            </a:r>
          </a:p>
        </p:txBody>
      </p:sp>
      <p:sp>
        <p:nvSpPr>
          <p:cNvPr id="7" name="">
            <a:extLst xmlns:a="http://schemas.openxmlformats.org/drawingml/2006/main">
              <a:ext uri="{FF2B5EF4-FFF2-40B4-BE49-F238E27FC236}">
                <a16:creationId xmlns:a16="http://schemas.microsoft.com/office/drawing/2014/main" id="{70FB25FF-4192-4267-BB9D-B275B3BFD019}"/>
              </a:ext>
            </a:extLst>
          </p:cNvPr>
          <p:cNvSpPr>
            <a:spLocks xmlns:a="http://schemas.openxmlformats.org/drawingml/2006/main" noGrp="1"/>
          </p:cNvSpPr>
          <p:nvPr/>
        </p:nvSpPr>
        <p:spPr>
          <a:xfrm xmlns:a="http://schemas.openxmlformats.org/drawingml/2006/main">
            <a:off x="266700" y="142875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Three mock diagnostic services</a:t>
            </a:r>
          </a:p>
        </p:txBody>
      </p:sp>
      <p:sp>
        <p:nvSpPr>
          <p:cNvPr id="8" name="">
            <a:extLst xmlns:a="http://schemas.openxmlformats.org/drawingml/2006/main">
              <a:ext uri="{FF2B5EF4-FFF2-40B4-BE49-F238E27FC236}">
                <a16:creationId xmlns:a16="http://schemas.microsoft.com/office/drawing/2014/main" id="{05C76EAF-8D91-48D4-8358-9CA4C3EC4BCB}"/>
              </a:ext>
            </a:extLst>
          </p:cNvPr>
          <p:cNvSpPr>
            <a:spLocks xmlns:a="http://schemas.openxmlformats.org/drawingml/2006/main" noGrp="1"/>
          </p:cNvSpPr>
          <p:nvPr/>
        </p:nvSpPr>
        <p:spPr>
          <a:xfrm xmlns:a="http://schemas.openxmlformats.org/drawingml/2006/main">
            <a:off x="266700" y="1657350"/>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Latency, traceroute and health services return clearly labelled sample results.</a:t>
            </a:r>
          </a:p>
        </p:txBody>
      </p:sp>
      <p:sp>
        <p:nvSpPr>
          <p:cNvPr id="9" name="">
            <a:extLst xmlns:a="http://schemas.openxmlformats.org/drawingml/2006/main">
              <a:ext uri="{FF2B5EF4-FFF2-40B4-BE49-F238E27FC236}">
                <a16:creationId xmlns:a16="http://schemas.microsoft.com/office/drawing/2014/main" id="{C8F2B2E5-4433-47B3-9A00-47B7CDB66DF2}"/>
              </a:ext>
            </a:extLst>
          </p:cNvPr>
          <p:cNvSpPr>
            <a:spLocks xmlns:a="http://schemas.openxmlformats.org/drawingml/2006/main" noGrp="1"/>
          </p:cNvSpPr>
          <p:nvPr/>
        </p:nvSpPr>
        <p:spPr>
          <a:xfrm xmlns:a="http://schemas.openxmlformats.org/drawingml/2006/main">
            <a:off x="266700" y="206692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One discovery and invocation client</a:t>
            </a:r>
          </a:p>
        </p:txBody>
      </p:sp>
      <p:sp>
        <p:nvSpPr>
          <p:cNvPr id="10" name="">
            <a:extLst xmlns:a="http://schemas.openxmlformats.org/drawingml/2006/main">
              <a:ext uri="{FF2B5EF4-FFF2-40B4-BE49-F238E27FC236}">
                <a16:creationId xmlns:a16="http://schemas.microsoft.com/office/drawing/2014/main" id="{8B86B60A-5727-4D90-AAE0-A938C6B748E7}"/>
              </a:ext>
            </a:extLst>
          </p:cNvPr>
          <p:cNvSpPr>
            <a:spLocks xmlns:a="http://schemas.openxmlformats.org/drawingml/2006/main" noGrp="1"/>
          </p:cNvSpPr>
          <p:nvPr/>
        </p:nvSpPr>
        <p:spPr>
          <a:xfrm xmlns:a="http://schemas.openxmlformats.org/drawingml/2006/main">
            <a:off x="266700" y="229552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The client validates DNSSEC, metadata and TLS before sending a service-specific token.</a:t>
            </a:r>
          </a:p>
        </p:txBody>
      </p:sp>
      <p:sp>
        <p:nvSpPr>
          <p:cNvPr id="11" name="">
            <a:extLst xmlns:a="http://schemas.openxmlformats.org/drawingml/2006/main">
              <a:ext uri="{FF2B5EF4-FFF2-40B4-BE49-F238E27FC236}">
                <a16:creationId xmlns:a16="http://schemas.microsoft.com/office/drawing/2014/main" id="{8ADC13AC-B8DA-4F00-98EC-D80DC6824EA6}"/>
              </a:ext>
            </a:extLst>
          </p:cNvPr>
          <p:cNvSpPr>
            <a:spLocks xmlns:a="http://schemas.openxmlformats.org/drawingml/2006/main" noGrp="1"/>
          </p:cNvSpPr>
          <p:nvPr/>
        </p:nvSpPr>
        <p:spPr>
          <a:xfrm xmlns:a="http://schemas.openxmlformats.org/drawingml/2006/main">
            <a:off x="266700" y="2781300"/>
            <a:ext cx="5219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5C6470"/>
                </a:solidFill>
                <a:latin typeface="Arial"/>
                <a:ea typeface="Arial"/>
                <a:cs typeface="Arial"/>
              </a:defRPr>
            </a:pPr>
            <a:r>
              <a:rPr sz="863" b="0">
                <a:solidFill>
                  <a:srgbClr val="5C6470"/>
                </a:solidFill>
                <a:latin typeface="Arial"/>
                <a:ea typeface="Arial"/>
                <a:cs typeface="Arial"/>
              </a:rPr>
              <a:t>Local prototype: real security checks, simulated diagnostic measurements.</a:t>
            </a:r>
          </a:p>
        </p:txBody>
      </p:sp>
    </p:spTree>
    <p:extLst>
      <p:ext uri="{BB962C8B-B14F-4D97-AF65-F5344CB8AC3E}">
        <p14:creationId xmlns:p14="http://schemas.microsoft.com/office/powerpoint/2010/main" val="15624856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B6B1D2-6A96-4F9E-B49C-8E882F9B5A66}"/>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Optimization Proposed</a:t>
            </a:r>
          </a:p>
        </p:txBody>
      </p:sp>
      <p:sp>
        <p:nvSpPr>
          <p:cNvPr id="2" name="">
            <a:extLst xmlns:a="http://schemas.openxmlformats.org/drawingml/2006/main">
              <a:ext uri="{FF2B5EF4-FFF2-40B4-BE49-F238E27FC236}">
                <a16:creationId xmlns:a16="http://schemas.microsoft.com/office/drawing/2014/main" id="{8CCA925F-953B-47F3-9B58-C74B35B9A473}"/>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Solution Optimization</a:t>
            </a:r>
          </a:p>
        </p:txBody>
      </p:sp>
      <p:sp>
        <p:nvSpPr>
          <p:cNvPr id="3" name="">
            <a:extLst xmlns:a="http://schemas.openxmlformats.org/drawingml/2006/main">
              <a:ext uri="{FF2B5EF4-FFF2-40B4-BE49-F238E27FC236}">
                <a16:creationId xmlns:a16="http://schemas.microsoft.com/office/drawing/2014/main" id="{10D77C39-A16A-49D0-AEE5-3D31FD912128}"/>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517E2FF5-B8D1-4E31-955D-F367BB995323}"/>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6 / 11</a:t>
            </a:r>
          </a:p>
        </p:txBody>
      </p:sp>
      <p:graphicFrame>
        <p:nvGraphicFramePr>
          <p:cNvPr id="11" name=""/>
          <p:cNvGraphicFramePr/>
          <p:nvPr/>
        </p:nvGraphicFramePr>
        <p:xfrm>
          <a:off xmlns:a="http://schemas.openxmlformats.org/drawingml/2006/main" x="257175" y="857250"/>
          <a:ext xmlns:a="http://schemas.openxmlformats.org/drawingml/2006/main" cx="5238750" cy="1704975"/>
        </p:xfrm>
        <a:graphic xmlns:a="http://schemas.openxmlformats.org/drawingml/2006/main">
          <a:graphicData uri="http://schemas.openxmlformats.org/drawingml/2006/table">
            <a:tbl>
              <a:tblPr/>
              <a:tblGrid>
                <a:gridCol w="952500"/>
                <a:gridCol w="2047875"/>
                <a:gridCol w="2238375"/>
              </a:tblGrid>
              <a:tr h="340995">
                <a:tc>
                  <a:txBody>
                    <a:bodyPr/>
                    <a:lstStyle/>
                    <a:p>
                      <a:r>
                        <a:rPr sz="900" b="1">
                          <a:solidFill>
                            <a:srgbClr val="FFFFFF"/>
                          </a:solidFill>
                          <a:latin typeface="Arial"/>
                          <a:ea typeface="Arial"/>
                          <a:cs typeface="Arial"/>
                        </a:rPr>
                        <a:t>Area</a:t>
                      </a:r>
                    </a:p>
                  </a:txBody>
                  <a:tcPr marL="66675" marR="66675" marT="47625" marB="47625">
                    <a:solidFill>
                      <a:srgbClr val="17178C"/>
                    </a:solidFill>
                  </a:tcPr>
                </a:tc>
                <a:tc>
                  <a:txBody>
                    <a:bodyPr/>
                    <a:lstStyle/>
                    <a:p>
                      <a:r>
                        <a:rPr sz="900" b="1">
                          <a:solidFill>
                            <a:srgbClr val="FFFFFF"/>
                          </a:solidFill>
                          <a:latin typeface="Arial"/>
                          <a:ea typeface="Arial"/>
                          <a:cs typeface="Arial"/>
                        </a:rPr>
                        <a:t>Manually configured setup</a:t>
                      </a:r>
                    </a:p>
                  </a:txBody>
                  <a:tcPr marL="66675" marR="66675" marT="47625" marB="47625">
                    <a:solidFill>
                      <a:srgbClr val="17178C"/>
                    </a:solidFill>
                  </a:tcPr>
                </a:tc>
                <a:tc>
                  <a:txBody>
                    <a:bodyPr/>
                    <a:lstStyle/>
                    <a:p>
                      <a:r>
                        <a:rPr sz="900" b="1">
                          <a:solidFill>
                            <a:srgbClr val="FFFFFF"/>
                          </a:solidFill>
                          <a:latin typeface="Arial"/>
                          <a:ea typeface="Arial"/>
                          <a:cs typeface="Arial"/>
                        </a:rPr>
                        <a:t>Proposed discovery workflow</a:t>
                      </a:r>
                    </a:p>
                  </a:txBody>
                  <a:tcPr marL="66675" marR="66675" marT="47625" marB="47625">
                    <a:solidFill>
                      <a:srgbClr val="17178C"/>
                    </a:solidFill>
                  </a:tcPr>
                </a:tc>
              </a:tr>
              <a:tr h="340995">
                <a:tc>
                  <a:txBody>
                    <a:bodyPr/>
                    <a:lstStyle/>
                    <a:p>
                      <a:r>
                        <a:rPr sz="900">
                          <a:solidFill>
                            <a:srgbClr val="20242A"/>
                          </a:solidFill>
                          <a:latin typeface="Arial"/>
                          <a:ea typeface="Arial"/>
                          <a:cs typeface="Arial"/>
                        </a:rPr>
                        <a:t>Endpoint change</a:t>
                      </a:r>
                    </a:p>
                  </a:txBody>
                  <a:tcPr marL="66675" marR="66675" marT="47625" marB="47625"/>
                </a:tc>
                <a:tc>
                  <a:txBody>
                    <a:bodyPr/>
                    <a:lstStyle/>
                    <a:p>
                      <a:r>
                        <a:rPr sz="900">
                          <a:solidFill>
                            <a:srgbClr val="20242A"/>
                          </a:solidFill>
                          <a:latin typeface="Arial"/>
                          <a:ea typeface="Arial"/>
                          <a:cs typeface="Arial"/>
                        </a:rPr>
                        <a:t>Update each stored endpoint</a:t>
                      </a:r>
                    </a:p>
                  </a:txBody>
                  <a:tcPr marL="66675" marR="66675" marT="47625" marB="47625"/>
                </a:tc>
                <a:tc>
                  <a:txBody>
                    <a:bodyPr/>
                    <a:lstStyle/>
                    <a:p>
                      <a:r>
                        <a:rPr sz="900">
                          <a:solidFill>
                            <a:srgbClr val="20242A"/>
                          </a:solidFill>
                          <a:latin typeface="Arial"/>
                          <a:ea typeface="Arial"/>
                          <a:cs typeface="Arial"/>
                        </a:rPr>
                        <a:t>Publish new signed connection details</a:t>
                      </a:r>
                    </a:p>
                  </a:txBody>
                  <a:tcPr marL="66675" marR="66675" marT="47625" marB="47625"/>
                </a:tc>
              </a:tr>
              <a:tr h="340995">
                <a:tc>
                  <a:txBody>
                    <a:bodyPr/>
                    <a:lstStyle/>
                    <a:p>
                      <a:r>
                        <a:rPr sz="900">
                          <a:solidFill>
                            <a:srgbClr val="20242A"/>
                          </a:solidFill>
                          <a:latin typeface="Arial"/>
                          <a:ea typeface="Arial"/>
                          <a:cs typeface="Arial"/>
                        </a:rPr>
                        <a:t>Metadata integrity</a:t>
                      </a:r>
                    </a:p>
                  </a:txBody>
                  <a:tcPr marL="66675" marR="66675" marT="47625" marB="47625"/>
                </a:tc>
                <a:tc>
                  <a:txBody>
                    <a:bodyPr/>
                    <a:lstStyle/>
                    <a:p>
                      <a:r>
                        <a:rPr sz="900">
                          <a:solidFill>
                            <a:srgbClr val="20242A"/>
                          </a:solidFill>
                          <a:latin typeface="Arial"/>
                          <a:ea typeface="Arial"/>
                          <a:cs typeface="Arial"/>
                        </a:rPr>
                        <a:t>No signature check by default</a:t>
                      </a:r>
                    </a:p>
                  </a:txBody>
                  <a:tcPr marL="66675" marR="66675" marT="47625" marB="47625"/>
                </a:tc>
                <a:tc>
                  <a:txBody>
                    <a:bodyPr/>
                    <a:lstStyle/>
                    <a:p>
                      <a:r>
                        <a:rPr sz="900">
                          <a:solidFill>
                            <a:srgbClr val="20242A"/>
                          </a:solidFill>
                          <a:latin typeface="Arial"/>
                          <a:ea typeface="Arial"/>
                          <a:cs typeface="Arial"/>
                        </a:rPr>
                        <a:t>Reject invalid or unsigned DNS answers</a:t>
                      </a:r>
                    </a:p>
                  </a:txBody>
                  <a:tcPr marL="66675" marR="66675" marT="47625" marB="47625"/>
                </a:tc>
              </a:tr>
              <a:tr h="340995">
                <a:tc>
                  <a:txBody>
                    <a:bodyPr/>
                    <a:lstStyle/>
                    <a:p>
                      <a:r>
                        <a:rPr sz="900">
                          <a:solidFill>
                            <a:srgbClr val="20242A"/>
                          </a:solidFill>
                          <a:latin typeface="Arial"/>
                          <a:ea typeface="Arial"/>
                          <a:cs typeface="Arial"/>
                        </a:rPr>
                        <a:t>Access control</a:t>
                      </a:r>
                    </a:p>
                  </a:txBody>
                  <a:tcPr marL="66675" marR="66675" marT="47625" marB="47625"/>
                </a:tc>
                <a:tc>
                  <a:txBody>
                    <a:bodyPr/>
                    <a:lstStyle/>
                    <a:p>
                      <a:r>
                        <a:rPr sz="900">
                          <a:solidFill>
                            <a:srgbClr val="20242A"/>
                          </a:solidFill>
                          <a:latin typeface="Arial"/>
                          <a:ea typeface="Arial"/>
                          <a:cs typeface="Arial"/>
                        </a:rPr>
                        <a:t>Credentials configured separately</a:t>
                      </a:r>
                    </a:p>
                  </a:txBody>
                  <a:tcPr marL="66675" marR="66675" marT="47625" marB="47625"/>
                </a:tc>
                <a:tc>
                  <a:txBody>
                    <a:bodyPr/>
                    <a:lstStyle/>
                    <a:p>
                      <a:r>
                        <a:rPr sz="900">
                          <a:solidFill>
                            <a:srgbClr val="20242A"/>
                          </a:solidFill>
                          <a:latin typeface="Arial"/>
                          <a:ea typeface="Arial"/>
                          <a:cs typeface="Arial"/>
                        </a:rPr>
                        <a:t>Keep credentials separate from discovery</a:t>
                      </a:r>
                    </a:p>
                  </a:txBody>
                  <a:tcPr marL="66675" marR="66675" marT="47625" marB="47625"/>
                </a:tc>
              </a:tr>
              <a:tr h="340995">
                <a:tc>
                  <a:txBody>
                    <a:bodyPr/>
                    <a:lstStyle/>
                    <a:p>
                      <a:r>
                        <a:rPr sz="900">
                          <a:solidFill>
                            <a:srgbClr val="20242A"/>
                          </a:solidFill>
                          <a:latin typeface="Arial"/>
                          <a:ea typeface="Arial"/>
                          <a:cs typeface="Arial"/>
                        </a:rPr>
                        <a:t>Repeated lookups</a:t>
                      </a:r>
                    </a:p>
                  </a:txBody>
                  <a:tcPr marL="66675" marR="66675" marT="47625" marB="47625"/>
                </a:tc>
                <a:tc>
                  <a:txBody>
                    <a:bodyPr/>
                    <a:lstStyle/>
                    <a:p>
                      <a:r>
                        <a:rPr sz="900">
                          <a:solidFill>
                            <a:srgbClr val="20242A"/>
                          </a:solidFill>
                          <a:latin typeface="Arial"/>
                          <a:ea typeface="Arial"/>
                          <a:cs typeface="Arial"/>
                        </a:rPr>
                        <a:t>No discovery cache involved</a:t>
                      </a:r>
                    </a:p>
                  </a:txBody>
                  <a:tcPr marL="66675" marR="66675" marT="47625" marB="47625"/>
                </a:tc>
                <a:tc>
                  <a:txBody>
                    <a:bodyPr/>
                    <a:lstStyle/>
                    <a:p>
                      <a:r>
                        <a:rPr sz="900">
                          <a:solidFill>
                            <a:srgbClr val="20242A"/>
                          </a:solidFill>
                          <a:latin typeface="Arial"/>
                          <a:ea typeface="Arial"/>
                          <a:cs typeface="Arial"/>
                        </a:rPr>
                        <a:t>Evaluate TTL-aware caching later</a:t>
                      </a:r>
                    </a:p>
                  </a:txBody>
                  <a:tcPr marL="66675" marR="66675" marT="47625" marB="47625"/>
                </a:tc>
              </a:tr>
            </a:tbl>
          </a:graphicData>
        </a:graphic>
      </p:graphicFrame>
      <p:sp>
        <p:nvSpPr>
          <p:cNvPr id="6" name="">
            <a:extLst xmlns:a="http://schemas.openxmlformats.org/drawingml/2006/main">
              <a:ext uri="{FF2B5EF4-FFF2-40B4-BE49-F238E27FC236}">
                <a16:creationId xmlns:a16="http://schemas.microsoft.com/office/drawing/2014/main" id="{0F08A44E-69BB-4851-9DF7-C8A4649ACDBE}"/>
              </a:ext>
            </a:extLst>
          </p:cNvPr>
          <p:cNvSpPr>
            <a:spLocks xmlns:a="http://schemas.openxmlformats.org/drawingml/2006/main" noGrp="1"/>
          </p:cNvSpPr>
          <p:nvPr/>
        </p:nvSpPr>
        <p:spPr>
          <a:xfrm xmlns:a="http://schemas.openxmlformats.org/drawingml/2006/main">
            <a:off x="266700" y="2667000"/>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38" b="0">
                <a:solidFill>
                  <a:srgbClr val="5C6470"/>
                </a:solidFill>
                <a:latin typeface="Arial"/>
                <a:ea typeface="Arial"/>
                <a:cs typeface="Arial"/>
              </a:defRPr>
            </a:pPr>
            <a:r>
              <a:rPr sz="938" b="0">
                <a:solidFill>
                  <a:srgbClr val="5C6470"/>
                </a:solidFill>
                <a:latin typeface="Arial"/>
                <a:ea typeface="Arial"/>
                <a:cs typeface="Arial"/>
              </a:rPr>
              <a:t>Port migration already works in the lab. Caching and performance gains remain to be evaluated.</a:t>
            </a:r>
          </a:p>
        </p:txBody>
      </p:sp>
    </p:spTree>
    <p:extLst>
      <p:ext uri="{BB962C8B-B14F-4D97-AF65-F5344CB8AC3E}">
        <p14:creationId xmlns:p14="http://schemas.microsoft.com/office/powerpoint/2010/main" val="20957312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7BC32BC-309E-4665-B12C-FE60C2AE1C12}"/>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Solution Architecture &amp; Design</a:t>
            </a:r>
          </a:p>
        </p:txBody>
      </p:sp>
      <p:sp>
        <p:nvSpPr>
          <p:cNvPr id="2" name="">
            <a:extLst xmlns:a="http://schemas.openxmlformats.org/drawingml/2006/main">
              <a:ext uri="{FF2B5EF4-FFF2-40B4-BE49-F238E27FC236}">
                <a16:creationId xmlns:a16="http://schemas.microsoft.com/office/drawing/2014/main" id="{61A17240-3D2E-49EF-842F-6937BC51A0D0}"/>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Architecture Design (UML)</a:t>
            </a:r>
          </a:p>
        </p:txBody>
      </p:sp>
      <p:sp>
        <p:nvSpPr>
          <p:cNvPr id="3" name="">
            <a:extLst xmlns:a="http://schemas.openxmlformats.org/drawingml/2006/main">
              <a:ext uri="{FF2B5EF4-FFF2-40B4-BE49-F238E27FC236}">
                <a16:creationId xmlns:a16="http://schemas.microsoft.com/office/drawing/2014/main" id="{39AC84E0-2105-4044-BCAA-86DD6876AD1B}"/>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D4CBF653-2540-43E7-8CCE-5C0728294CFE}"/>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7 / 11</a:t>
            </a:r>
          </a:p>
        </p:txBody>
      </p:sp>
      <p:sp>
        <p:nvSpPr>
          <p:cNvPr id="5" name="">
            <a:extLst xmlns:a="http://schemas.openxmlformats.org/drawingml/2006/main">
              <a:ext uri="{FF2B5EF4-FFF2-40B4-BE49-F238E27FC236}">
                <a16:creationId xmlns:a16="http://schemas.microsoft.com/office/drawing/2014/main" id="{1B059E37-CC4D-437F-A896-134B426FC45B}"/>
              </a:ext>
            </a:extLst>
          </p:cNvPr>
          <p:cNvSpPr>
            <a:spLocks xmlns:a="http://schemas.openxmlformats.org/drawingml/2006/main" noGrp="1"/>
          </p:cNvSpPr>
          <p:nvPr/>
        </p:nvSpPr>
        <p:spPr>
          <a:xfrm xmlns:a="http://schemas.openxmlformats.org/drawingml/2006/main">
            <a:off x="266700" y="971550"/>
            <a:ext cx="1238250"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&lt;&lt;component&gt;&gt;</a:t>
            </a:r>
          </a:p>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Publisher</a:t>
            </a:r>
          </a:p>
        </p:txBody>
      </p:sp>
      <p:sp>
        <p:nvSpPr>
          <p:cNvPr id="6" name="">
            <a:extLst xmlns:a="http://schemas.openxmlformats.org/drawingml/2006/main">
              <a:ext uri="{FF2B5EF4-FFF2-40B4-BE49-F238E27FC236}">
                <a16:creationId xmlns:a16="http://schemas.microsoft.com/office/drawing/2014/main" id="{AB36D4E7-D0D7-4723-90FF-9D81F10FEF6B}"/>
              </a:ext>
            </a:extLst>
          </p:cNvPr>
          <p:cNvSpPr>
            <a:spLocks xmlns:a="http://schemas.openxmlformats.org/drawingml/2006/main" noGrp="1"/>
          </p:cNvSpPr>
          <p:nvPr/>
        </p:nvSpPr>
        <p:spPr>
          <a:xfrm xmlns:a="http://schemas.openxmlformats.org/drawingml/2006/main">
            <a:off x="2228850" y="971550"/>
            <a:ext cx="1409700"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&lt;&lt;component&gt;&gt;</a:t>
            </a:r>
          </a:p>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Signed DNS zone</a:t>
            </a:r>
          </a:p>
        </p:txBody>
      </p:sp>
      <p:sp>
        <p:nvSpPr>
          <p:cNvPr id="7" name="">
            <a:extLst xmlns:a="http://schemas.openxmlformats.org/drawingml/2006/main">
              <a:ext uri="{FF2B5EF4-FFF2-40B4-BE49-F238E27FC236}">
                <a16:creationId xmlns:a16="http://schemas.microsoft.com/office/drawing/2014/main" id="{0DD7DB70-C113-422B-8673-AF7C3524152F}"/>
              </a:ext>
            </a:extLst>
          </p:cNvPr>
          <p:cNvSpPr>
            <a:spLocks xmlns:a="http://schemas.openxmlformats.org/drawingml/2006/main" noGrp="1"/>
          </p:cNvSpPr>
          <p:nvPr/>
        </p:nvSpPr>
        <p:spPr>
          <a:xfrm xmlns:a="http://schemas.openxmlformats.org/drawingml/2006/main">
            <a:off x="4210050" y="971550"/>
            <a:ext cx="1276350" cy="504825"/>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&lt;&lt;component&gt;&gt;</a:t>
            </a:r>
          </a:p>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Discovery client</a:t>
            </a:r>
          </a:p>
        </p:txBody>
      </p: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1504950" y="1223963"/>
            <a:ext cx="723900" cy="0"/>
          </a:xfrm>
          <a:prstGeom xmlns:a="http://schemas.openxmlformats.org/drawingml/2006/main" prst="straightConnector1">
            <a:avLst/>
          </a:prstGeom>
          <a:ln xmlns:a="http://schemas.openxmlformats.org/drawingml/2006/main" w="12383">
            <a:solidFill>
              <a:srgbClr val="17178C"/>
            </a:solidFill>
            <a:tailEnd type="triangle" w="sm" len="sm"/>
          </a:ln>
        </p:spPr>
      </p:cxnSp>
      <p:sp>
        <p:nvSpPr>
          <p:cNvPr id="9" name="">
            <a:extLst xmlns:a="http://schemas.openxmlformats.org/drawingml/2006/main">
              <a:ext uri="{FF2B5EF4-FFF2-40B4-BE49-F238E27FC236}">
                <a16:creationId xmlns:a16="http://schemas.microsoft.com/office/drawing/2014/main" id="{B1CA1732-7734-4CCA-9F8B-F016A555BD39}"/>
              </a:ext>
            </a:extLst>
          </p:cNvPr>
          <p:cNvSpPr>
            <a:spLocks xmlns:a="http://schemas.openxmlformats.org/drawingml/2006/main" noGrp="1"/>
          </p:cNvSpPr>
          <p:nvPr/>
        </p:nvSpPr>
        <p:spPr>
          <a:xfrm xmlns:a="http://schemas.openxmlformats.org/drawingml/2006/main">
            <a:off x="1524000" y="1057275"/>
            <a:ext cx="685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750" b="0">
                <a:solidFill>
                  <a:srgbClr val="5C6470"/>
                </a:solidFill>
                <a:latin typeface="Arial"/>
                <a:ea typeface="Arial"/>
                <a:cs typeface="Arial"/>
              </a:defRPr>
            </a:pPr>
            <a:r>
              <a:rPr sz="750" b="0">
                <a:solidFill>
                  <a:srgbClr val="5C6470"/>
                </a:solidFill>
                <a:latin typeface="Arial"/>
                <a:ea typeface="Arial"/>
                <a:cs typeface="Arial"/>
              </a:rPr>
              <a:t>publishes</a:t>
            </a:r>
          </a:p>
        </p:txBody>
      </p:sp>
      <p:cxnSp>
        <p:nvCxnSpPr>
          <p:cNvPr id="27" name=""/>
          <p:cNvCxnSpPr>
            <a:stCxn xmlns:a="http://schemas.openxmlformats.org/drawingml/2006/main" id="7" idx="1"/>
            <a:endCxn xmlns:a="http://schemas.openxmlformats.org/drawingml/2006/main" id="6" idx="3"/>
          </p:cNvCxnSpPr>
          <p:nvPr/>
        </p:nvCxnSpPr>
        <p:spPr>
          <a:xfrm xmlns:a="http://schemas.openxmlformats.org/drawingml/2006/main" flipH="1">
            <a:off x="3638550" y="1223963"/>
            <a:ext cx="571500" cy="0"/>
          </a:xfrm>
          <a:prstGeom xmlns:a="http://schemas.openxmlformats.org/drawingml/2006/main" prst="straightConnector1">
            <a:avLst/>
          </a:prstGeom>
          <a:ln xmlns:a="http://schemas.openxmlformats.org/drawingml/2006/main" w="12383">
            <a:solidFill>
              <a:srgbClr val="17178C"/>
            </a:solidFill>
            <a:tailEnd type="triangle" w="sm" len="sm"/>
          </a:ln>
        </p:spPr>
      </p:cxnSp>
      <p:sp>
        <p:nvSpPr>
          <p:cNvPr id="11" name="">
            <a:extLst xmlns:a="http://schemas.openxmlformats.org/drawingml/2006/main">
              <a:ext uri="{FF2B5EF4-FFF2-40B4-BE49-F238E27FC236}">
                <a16:creationId xmlns:a16="http://schemas.microsoft.com/office/drawing/2014/main" id="{6F093EE8-F76F-4633-964B-79D9B8555BF2}"/>
              </a:ext>
            </a:extLst>
          </p:cNvPr>
          <p:cNvSpPr>
            <a:spLocks xmlns:a="http://schemas.openxmlformats.org/drawingml/2006/main" noGrp="1"/>
          </p:cNvSpPr>
          <p:nvPr/>
        </p:nvSpPr>
        <p:spPr>
          <a:xfrm xmlns:a="http://schemas.openxmlformats.org/drawingml/2006/main">
            <a:off x="3657600" y="1066800"/>
            <a:ext cx="533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750" b="0">
                <a:solidFill>
                  <a:srgbClr val="5C6470"/>
                </a:solidFill>
                <a:latin typeface="Arial"/>
                <a:ea typeface="Arial"/>
                <a:cs typeface="Arial"/>
              </a:defRPr>
            </a:pPr>
            <a:r>
              <a:rPr sz="750" b="0">
                <a:solidFill>
                  <a:srgbClr val="5C6470"/>
                </a:solidFill>
                <a:latin typeface="Arial"/>
                <a:ea typeface="Arial"/>
                <a:cs typeface="Arial"/>
              </a:rPr>
              <a:t>queries</a:t>
            </a:r>
          </a:p>
        </p:txBody>
      </p:sp>
      <p:sp>
        <p:nvSpPr>
          <p:cNvPr id="12" name="">
            <a:extLst xmlns:a="http://schemas.openxmlformats.org/drawingml/2006/main">
              <a:ext uri="{FF2B5EF4-FFF2-40B4-BE49-F238E27FC236}">
                <a16:creationId xmlns:a16="http://schemas.microsoft.com/office/drawing/2014/main" id="{6BDF7269-22B1-48B4-BAE5-0C5DD8F459BC}"/>
              </a:ext>
            </a:extLst>
          </p:cNvPr>
          <p:cNvSpPr>
            <a:spLocks xmlns:a="http://schemas.openxmlformats.org/drawingml/2006/main" noGrp="1"/>
          </p:cNvSpPr>
          <p:nvPr/>
        </p:nvSpPr>
        <p:spPr>
          <a:xfrm xmlns:a="http://schemas.openxmlformats.org/drawingml/2006/main">
            <a:off x="4095750" y="2114550"/>
            <a:ext cx="13906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&lt;&lt;component&gt;&gt;</a:t>
            </a:r>
          </a:p>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Three mock services</a:t>
            </a:r>
          </a:p>
        </p:txBody>
      </p:sp>
      <p:cxnSp>
        <p:nvCxnSpPr>
          <p:cNvPr id="30" name=""/>
          <p:cNvCxnSpPr>
            <a:stCxn xmlns:a="http://schemas.openxmlformats.org/drawingml/2006/main" id="7" idx="2"/>
            <a:endCxn xmlns:a="http://schemas.openxmlformats.org/drawingml/2006/main" id="12" idx="0"/>
          </p:cNvCxnSpPr>
          <p:nvPr/>
        </p:nvCxnSpPr>
        <p:spPr>
          <a:xfrm xmlns:a="http://schemas.openxmlformats.org/drawingml/2006/main" flipH="1">
            <a:off x="4791075" y="1476375"/>
            <a:ext cx="57150" cy="638175"/>
          </a:xfrm>
          <a:prstGeom xmlns:a="http://schemas.openxmlformats.org/drawingml/2006/main" prst="straightConnector1">
            <a:avLst/>
          </a:prstGeom>
          <a:ln xmlns:a="http://schemas.openxmlformats.org/drawingml/2006/main" w="12383">
            <a:solidFill>
              <a:srgbClr val="17178C"/>
            </a:solidFill>
            <a:tailEnd type="triangle" w="sm" len="sm"/>
          </a:ln>
        </p:spPr>
      </p:cxnSp>
      <p:sp>
        <p:nvSpPr>
          <p:cNvPr id="14" name="">
            <a:extLst xmlns:a="http://schemas.openxmlformats.org/drawingml/2006/main">
              <a:ext uri="{FF2B5EF4-FFF2-40B4-BE49-F238E27FC236}">
                <a16:creationId xmlns:a16="http://schemas.microsoft.com/office/drawing/2014/main" id="{A5620232-BD24-436A-B7A4-12AC9E5524FB}"/>
              </a:ext>
            </a:extLst>
          </p:cNvPr>
          <p:cNvSpPr>
            <a:spLocks xmlns:a="http://schemas.openxmlformats.org/drawingml/2006/main" noGrp="1"/>
          </p:cNvSpPr>
          <p:nvPr/>
        </p:nvSpPr>
        <p:spPr>
          <a:xfrm xmlns:a="http://schemas.openxmlformats.org/drawingml/2006/main">
            <a:off x="3457575" y="1695450"/>
            <a:ext cx="1219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50" b="0">
                <a:solidFill>
                  <a:srgbClr val="5C6470"/>
                </a:solidFill>
                <a:latin typeface="Arial"/>
                <a:ea typeface="Arial"/>
                <a:cs typeface="Arial"/>
              </a:defRPr>
            </a:pPr>
            <a:r>
              <a:rPr sz="750" b="0">
                <a:solidFill>
                  <a:srgbClr val="5C6470"/>
                </a:solidFill>
                <a:latin typeface="Arial"/>
                <a:ea typeface="Arial"/>
                <a:cs typeface="Arial"/>
              </a:rPr>
              <a:t>TLS + token</a:t>
            </a:r>
          </a:p>
        </p:txBody>
      </p:sp>
      <p:sp>
        <p:nvSpPr>
          <p:cNvPr id="15" name="">
            <a:extLst xmlns:a="http://schemas.openxmlformats.org/drawingml/2006/main">
              <a:ext uri="{FF2B5EF4-FFF2-40B4-BE49-F238E27FC236}">
                <a16:creationId xmlns:a16="http://schemas.microsoft.com/office/drawing/2014/main" id="{2AADC4BB-8226-46BC-8159-4E991094D78C}"/>
              </a:ext>
            </a:extLst>
          </p:cNvPr>
          <p:cNvSpPr>
            <a:spLocks xmlns:a="http://schemas.openxmlformats.org/drawingml/2006/main" noGrp="1"/>
          </p:cNvSpPr>
          <p:nvPr/>
        </p:nvSpPr>
        <p:spPr>
          <a:xfrm xmlns:a="http://schemas.openxmlformats.org/drawingml/2006/main">
            <a:off x="266700" y="2038350"/>
            <a:ext cx="3571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20242A"/>
                </a:solidFill>
                <a:latin typeface="Arial"/>
                <a:ea typeface="Arial"/>
                <a:cs typeface="Arial"/>
              </a:defRPr>
            </a:pPr>
            <a:r>
              <a:rPr sz="1125" b="1">
                <a:solidFill>
                  <a:srgbClr val="20242A"/>
                </a:solidFill>
                <a:latin typeface="Arial"/>
                <a:ea typeface="Arial"/>
                <a:cs typeface="Arial"/>
              </a:rPr>
              <a:t>Independent local provisioning</a:t>
            </a:r>
          </a:p>
        </p:txBody>
      </p:sp>
      <p:sp>
        <p:nvSpPr>
          <p:cNvPr id="16" name="">
            <a:extLst xmlns:a="http://schemas.openxmlformats.org/drawingml/2006/main">
              <a:ext uri="{FF2B5EF4-FFF2-40B4-BE49-F238E27FC236}">
                <a16:creationId xmlns:a16="http://schemas.microsoft.com/office/drawing/2014/main" id="{BB141EC6-B800-4AB1-805D-5A38EA400C1B}"/>
              </a:ext>
            </a:extLst>
          </p:cNvPr>
          <p:cNvSpPr>
            <a:spLocks xmlns:a="http://schemas.openxmlformats.org/drawingml/2006/main" noGrp="1"/>
          </p:cNvSpPr>
          <p:nvPr/>
        </p:nvSpPr>
        <p:spPr>
          <a:xfrm xmlns:a="http://schemas.openxmlformats.org/drawingml/2006/main">
            <a:off x="266700" y="2314575"/>
            <a:ext cx="3571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38" b="0">
                <a:solidFill>
                  <a:srgbClr val="5C6470"/>
                </a:solidFill>
                <a:latin typeface="Arial"/>
                <a:ea typeface="Arial"/>
                <a:cs typeface="Arial"/>
              </a:defRPr>
            </a:pPr>
            <a:r>
              <a:rPr sz="938" b="0">
                <a:solidFill>
                  <a:srgbClr val="5C6470"/>
                </a:solidFill>
                <a:latin typeface="Arial"/>
                <a:ea typeface="Arial"/>
                <a:cs typeface="Arial"/>
              </a:rPr>
              <a:t>Client: DNS / TLS trust and service token.</a:t>
            </a:r>
          </a:p>
          <a:p xmlns:a="http://schemas.openxmlformats.org/drawingml/2006/main">
            <a:pPr algn="l">
              <a:defRPr sz="938" b="0">
                <a:solidFill>
                  <a:srgbClr val="5C6470"/>
                </a:solidFill>
                <a:latin typeface="Arial"/>
                <a:ea typeface="Arial"/>
                <a:cs typeface="Arial"/>
              </a:defRPr>
            </a:pPr>
            <a:r>
              <a:rPr sz="938" b="0">
                <a:solidFill>
                  <a:srgbClr val="5C6470"/>
                </a:solidFill>
                <a:latin typeface="Arial"/>
                <a:ea typeface="Arial"/>
                <a:cs typeface="Arial"/>
              </a:rPr>
              <a:t>Services: credential verification settings.</a:t>
            </a:r>
          </a:p>
        </p:txBody>
      </p:sp>
      <p:sp>
        <p:nvSpPr>
          <p:cNvPr id="17" name="">
            <a:extLst xmlns:a="http://schemas.openxmlformats.org/drawingml/2006/main">
              <a:ext uri="{FF2B5EF4-FFF2-40B4-BE49-F238E27FC236}">
                <a16:creationId xmlns:a16="http://schemas.microsoft.com/office/drawing/2014/main" id="{C031C7C1-C021-498B-83DB-83014F9CFDD7}"/>
              </a:ext>
            </a:extLst>
          </p:cNvPr>
          <p:cNvSpPr>
            <a:spLocks xmlns:a="http://schemas.openxmlformats.org/drawingml/2006/main" noGrp="1"/>
          </p:cNvSpPr>
          <p:nvPr/>
        </p:nvSpPr>
        <p:spPr>
          <a:xfrm xmlns:a="http://schemas.openxmlformats.org/drawingml/2006/main">
            <a:off x="266700" y="2762250"/>
            <a:ext cx="5219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17178C"/>
                </a:solidFill>
                <a:latin typeface="Arial"/>
                <a:ea typeface="Arial"/>
                <a:cs typeface="Arial"/>
              </a:defRPr>
            </a:pPr>
            <a:r>
              <a:rPr sz="900" b="0">
                <a:solidFill>
                  <a:srgbClr val="17178C"/>
                </a:solidFill>
                <a:latin typeface="Arial"/>
                <a:ea typeface="Arial"/>
                <a:cs typeface="Arial"/>
              </a:rPr>
              <a:t>DNS integrity, endpoint identity and service access remain separate checks.</a:t>
            </a:r>
          </a:p>
        </p:txBody>
      </p:sp>
    </p:spTree>
    <p:extLst>
      <p:ext uri="{BB962C8B-B14F-4D97-AF65-F5344CB8AC3E}">
        <p14:creationId xmlns:p14="http://schemas.microsoft.com/office/powerpoint/2010/main" val="719981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269655E-ED45-4F37-81D9-48DEDA7B1AFE}"/>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Data Flow Diagram</a:t>
            </a:r>
          </a:p>
        </p:txBody>
      </p:sp>
      <p:sp>
        <p:nvSpPr>
          <p:cNvPr id="2" name="">
            <a:extLst xmlns:a="http://schemas.openxmlformats.org/drawingml/2006/main">
              <a:ext uri="{FF2B5EF4-FFF2-40B4-BE49-F238E27FC236}">
                <a16:creationId xmlns:a16="http://schemas.microsoft.com/office/drawing/2014/main" id="{4F52FD98-0C7A-49E4-8A2A-F5A6196438A5}"/>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Data Flow Diagram</a:t>
            </a:r>
          </a:p>
        </p:txBody>
      </p:sp>
      <p:sp>
        <p:nvSpPr>
          <p:cNvPr id="3" name="">
            <a:extLst xmlns:a="http://schemas.openxmlformats.org/drawingml/2006/main">
              <a:ext uri="{FF2B5EF4-FFF2-40B4-BE49-F238E27FC236}">
                <a16:creationId xmlns:a16="http://schemas.microsoft.com/office/drawing/2014/main" id="{0D6E2593-C4AC-43AF-A833-3956339BB65D}"/>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3DD7428F-FE40-4359-BC6A-E6F250125766}"/>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8 / 11</a:t>
            </a:r>
          </a:p>
        </p:txBody>
      </p:sp>
      <p:sp>
        <p:nvSpPr>
          <p:cNvPr id="5" name="">
            <a:extLst xmlns:a="http://schemas.openxmlformats.org/drawingml/2006/main">
              <a:ext uri="{FF2B5EF4-FFF2-40B4-BE49-F238E27FC236}">
                <a16:creationId xmlns:a16="http://schemas.microsoft.com/office/drawing/2014/main" id="{DE7BCEF3-AB16-4FD7-AE43-77848AE90B28}"/>
              </a:ext>
            </a:extLst>
          </p:cNvPr>
          <p:cNvSpPr>
            <a:spLocks xmlns:a="http://schemas.openxmlformats.org/drawingml/2006/main" noGrp="1"/>
          </p:cNvSpPr>
          <p:nvPr/>
        </p:nvSpPr>
        <p:spPr>
          <a:xfrm xmlns:a="http://schemas.openxmlformats.org/drawingml/2006/main">
            <a:off x="257175" y="885825"/>
            <a:ext cx="1562100"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1. Query DNS</a:t>
            </a:r>
          </a:p>
        </p:txBody>
      </p:sp>
      <p:sp>
        <p:nvSpPr>
          <p:cNvPr id="6" name="">
            <a:extLst xmlns:a="http://schemas.openxmlformats.org/drawingml/2006/main">
              <a:ext uri="{FF2B5EF4-FFF2-40B4-BE49-F238E27FC236}">
                <a16:creationId xmlns:a16="http://schemas.microsoft.com/office/drawing/2014/main" id="{7D21194E-79AF-469B-98C2-569E4B53A511}"/>
              </a:ext>
            </a:extLst>
          </p:cNvPr>
          <p:cNvSpPr>
            <a:spLocks xmlns:a="http://schemas.openxmlformats.org/drawingml/2006/main" noGrp="1"/>
          </p:cNvSpPr>
          <p:nvPr/>
        </p:nvSpPr>
        <p:spPr>
          <a:xfrm xmlns:a="http://schemas.openxmlformats.org/drawingml/2006/main">
            <a:off x="2105025" y="885825"/>
            <a:ext cx="1562100"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2. Check signatures</a:t>
            </a:r>
          </a:p>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and metadata</a:t>
            </a:r>
          </a:p>
        </p:txBody>
      </p:sp>
      <p:sp>
        <p:nvSpPr>
          <p:cNvPr id="7" name="">
            <a:extLst xmlns:a="http://schemas.openxmlformats.org/drawingml/2006/main">
              <a:ext uri="{FF2B5EF4-FFF2-40B4-BE49-F238E27FC236}">
                <a16:creationId xmlns:a16="http://schemas.microsoft.com/office/drawing/2014/main" id="{A02CDC67-DCCC-4A44-9701-D1564E322039}"/>
              </a:ext>
            </a:extLst>
          </p:cNvPr>
          <p:cNvSpPr>
            <a:spLocks xmlns:a="http://schemas.openxmlformats.org/drawingml/2006/main" noGrp="1"/>
          </p:cNvSpPr>
          <p:nvPr/>
        </p:nvSpPr>
        <p:spPr>
          <a:xfrm xmlns:a="http://schemas.openxmlformats.org/drawingml/2006/main">
            <a:off x="3952875" y="885825"/>
            <a:ext cx="1562100"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3. Validate service</a:t>
            </a:r>
          </a:p>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address record</a:t>
            </a:r>
          </a:p>
        </p:txBody>
      </p:sp>
      <p:sp>
        <p:nvSpPr>
          <p:cNvPr id="8" name="">
            <a:extLst xmlns:a="http://schemas.openxmlformats.org/drawingml/2006/main">
              <a:ext uri="{FF2B5EF4-FFF2-40B4-BE49-F238E27FC236}">
                <a16:creationId xmlns:a16="http://schemas.microsoft.com/office/drawing/2014/main" id="{D6B9A5E7-D1A6-419A-A8F5-5FF6A411787E}"/>
              </a:ext>
            </a:extLst>
          </p:cNvPr>
          <p:cNvSpPr>
            <a:spLocks xmlns:a="http://schemas.openxmlformats.org/drawingml/2006/main" noGrp="1"/>
          </p:cNvSpPr>
          <p:nvPr/>
        </p:nvSpPr>
        <p:spPr>
          <a:xfrm xmlns:a="http://schemas.openxmlformats.org/drawingml/2006/main">
            <a:off x="257175" y="1914525"/>
            <a:ext cx="1562100"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6. Return mock result</a:t>
            </a:r>
          </a:p>
        </p:txBody>
      </p:sp>
      <p:sp>
        <p:nvSpPr>
          <p:cNvPr id="9" name="">
            <a:extLst xmlns:a="http://schemas.openxmlformats.org/drawingml/2006/main">
              <a:ext uri="{FF2B5EF4-FFF2-40B4-BE49-F238E27FC236}">
                <a16:creationId xmlns:a16="http://schemas.microsoft.com/office/drawing/2014/main" id="{AFB1CB8A-923A-4852-A3EB-E1059B1637F1}"/>
              </a:ext>
            </a:extLst>
          </p:cNvPr>
          <p:cNvSpPr>
            <a:spLocks xmlns:a="http://schemas.openxmlformats.org/drawingml/2006/main" noGrp="1"/>
          </p:cNvSpPr>
          <p:nvPr/>
        </p:nvSpPr>
        <p:spPr>
          <a:xfrm xmlns:a="http://schemas.openxmlformats.org/drawingml/2006/main">
            <a:off x="2105025" y="1914525"/>
            <a:ext cx="1562100"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5. Check caller token</a:t>
            </a:r>
          </a:p>
        </p:txBody>
      </p:sp>
      <p:sp>
        <p:nvSpPr>
          <p:cNvPr id="10" name="">
            <a:extLst xmlns:a="http://schemas.openxmlformats.org/drawingml/2006/main">
              <a:ext uri="{FF2B5EF4-FFF2-40B4-BE49-F238E27FC236}">
                <a16:creationId xmlns:a16="http://schemas.microsoft.com/office/drawing/2014/main" id="{CB488BD4-748F-4A58-AE18-70CEC7F82928}"/>
              </a:ext>
            </a:extLst>
          </p:cNvPr>
          <p:cNvSpPr>
            <a:spLocks xmlns:a="http://schemas.openxmlformats.org/drawingml/2006/main" noGrp="1"/>
          </p:cNvSpPr>
          <p:nvPr/>
        </p:nvSpPr>
        <p:spPr>
          <a:xfrm xmlns:a="http://schemas.openxmlformats.org/drawingml/2006/main">
            <a:off x="3952875" y="1914525"/>
            <a:ext cx="1562100"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17178C"/>
            </a:solidFill>
          </a:ln>
        </p:spPr>
        <p:txBody>
          <a:bodyPr xmlns:a="http://schemas.openxmlformats.org/drawingml/2006/main" anchor="ctr">
            <a:noAutofit/>
          </a:bodyPr>
          <a:lstStyle xmlns:a="http://schemas.openxmlformats.org/drawingml/2006/main"/>
          <a:p xmlns:a="http://schemas.openxmlformats.org/drawingml/2006/main">
            <a:pPr algn="ctr">
              <a:defRPr sz="975">
                <a:solidFill>
                  <a:srgbClr val="20242A"/>
                </a:solidFill>
                <a:latin typeface="Arial"/>
                <a:ea typeface="Arial"/>
                <a:cs typeface="Arial"/>
              </a:defRPr>
            </a:pPr>
            <a:r>
              <a:rPr sz="975">
                <a:solidFill>
                  <a:srgbClr val="20242A"/>
                </a:solidFill>
                <a:latin typeface="Arial"/>
                <a:ea typeface="Arial"/>
                <a:cs typeface="Arial"/>
              </a:rPr>
              <a:t>4. Verify TLS identity</a:t>
            </a:r>
          </a:p>
        </p:txBody>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1819275" y="1066800"/>
            <a:ext cx="285750" cy="0"/>
          </a:xfrm>
          <a:prstGeom xmlns:a="http://schemas.openxmlformats.org/drawingml/2006/main" prst="straightConnector1">
            <a:avLst/>
          </a:prstGeom>
          <a:ln xmlns:a="http://schemas.openxmlformats.org/drawingml/2006/main" w="12383">
            <a:solidFill>
              <a:srgbClr val="17178C"/>
            </a:solidFill>
            <a:tailEnd type="triangle" w="sm" len="sm"/>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3667125" y="1066800"/>
            <a:ext cx="285750" cy="0"/>
          </a:xfrm>
          <a:prstGeom xmlns:a="http://schemas.openxmlformats.org/drawingml/2006/main" prst="straightConnector1">
            <a:avLst/>
          </a:prstGeom>
          <a:ln xmlns:a="http://schemas.openxmlformats.org/drawingml/2006/main" w="12383">
            <a:solidFill>
              <a:srgbClr val="17178C"/>
            </a:solidFill>
            <a:tailEnd type="triangle" w="sm" len="sm"/>
          </a:ln>
        </p:spPr>
      </p:cxnSp>
      <p:cxnSp>
        <p:nvCxnSpPr>
          <p:cNvPr id="31" name=""/>
          <p:cNvCxnSpPr>
            <a:stCxn xmlns:a="http://schemas.openxmlformats.org/drawingml/2006/main" id="7" idx="2"/>
            <a:endCxn xmlns:a="http://schemas.openxmlformats.org/drawingml/2006/main" id="10" idx="0"/>
          </p:cNvCxnSpPr>
          <p:nvPr/>
        </p:nvCxnSpPr>
        <p:spPr>
          <a:xfrm xmlns:a="http://schemas.openxmlformats.org/drawingml/2006/main">
            <a:off x="4733925" y="1247775"/>
            <a:ext cx="0" cy="666750"/>
          </a:xfrm>
          <a:prstGeom xmlns:a="http://schemas.openxmlformats.org/drawingml/2006/main" prst="straightConnector1">
            <a:avLst/>
          </a:prstGeom>
          <a:ln xmlns:a="http://schemas.openxmlformats.org/drawingml/2006/main" w="12383">
            <a:solidFill>
              <a:srgbClr val="17178C"/>
            </a:solidFill>
            <a:tailEnd type="triangle" w="sm" len="sm"/>
          </a:ln>
        </p:spPr>
      </p:cxnSp>
      <p:cxnSp>
        <p:nvCxnSpPr>
          <p:cNvPr id="32" name=""/>
          <p:cNvCxnSpPr>
            <a:stCxn xmlns:a="http://schemas.openxmlformats.org/drawingml/2006/main" id="10" idx="1"/>
            <a:endCxn xmlns:a="http://schemas.openxmlformats.org/drawingml/2006/main" id="9" idx="3"/>
          </p:cNvCxnSpPr>
          <p:nvPr/>
        </p:nvCxnSpPr>
        <p:spPr>
          <a:xfrm xmlns:a="http://schemas.openxmlformats.org/drawingml/2006/main" flipH="1">
            <a:off x="3667125" y="2095500"/>
            <a:ext cx="285750" cy="0"/>
          </a:xfrm>
          <a:prstGeom xmlns:a="http://schemas.openxmlformats.org/drawingml/2006/main" prst="straightConnector1">
            <a:avLst/>
          </a:prstGeom>
          <a:ln xmlns:a="http://schemas.openxmlformats.org/drawingml/2006/main" w="12383">
            <a:solidFill>
              <a:srgbClr val="17178C"/>
            </a:solidFill>
            <a:tailEnd type="triangle" w="sm" len="sm"/>
          </a:ln>
        </p:spPr>
      </p:cxnSp>
      <p:cxnSp>
        <p:nvCxnSpPr>
          <p:cNvPr id="33" name=""/>
          <p:cNvCxnSpPr>
            <a:stCxn xmlns:a="http://schemas.openxmlformats.org/drawingml/2006/main" id="9" idx="1"/>
            <a:endCxn xmlns:a="http://schemas.openxmlformats.org/drawingml/2006/main" id="8" idx="3"/>
          </p:cNvCxnSpPr>
          <p:nvPr/>
        </p:nvCxnSpPr>
        <p:spPr>
          <a:xfrm xmlns:a="http://schemas.openxmlformats.org/drawingml/2006/main" flipH="1">
            <a:off x="1819275" y="2095500"/>
            <a:ext cx="285750" cy="0"/>
          </a:xfrm>
          <a:prstGeom xmlns:a="http://schemas.openxmlformats.org/drawingml/2006/main" prst="straightConnector1">
            <a:avLst/>
          </a:prstGeom>
          <a:ln xmlns:a="http://schemas.openxmlformats.org/drawingml/2006/main" w="12383">
            <a:solidFill>
              <a:srgbClr val="17178C"/>
            </a:solidFill>
            <a:tailEnd type="triangle" w="sm" len="sm"/>
          </a:ln>
        </p:spPr>
      </p:cxnSp>
      <p:sp>
        <p:nvSpPr>
          <p:cNvPr id="16" name="">
            <a:extLst xmlns:a="http://schemas.openxmlformats.org/drawingml/2006/main">
              <a:ext uri="{FF2B5EF4-FFF2-40B4-BE49-F238E27FC236}">
                <a16:creationId xmlns:a16="http://schemas.microsoft.com/office/drawing/2014/main" id="{F64CC083-C291-4D44-9F76-1CCB0D05E43D}"/>
              </a:ext>
            </a:extLst>
          </p:cNvPr>
          <p:cNvSpPr>
            <a:spLocks xmlns:a="http://schemas.openxmlformats.org/drawingml/2006/main" noGrp="1"/>
          </p:cNvSpPr>
          <p:nvPr/>
        </p:nvSpPr>
        <p:spPr>
          <a:xfrm xmlns:a="http://schemas.openxmlformats.org/drawingml/2006/main">
            <a:off x="323850" y="1314450"/>
            <a:ext cx="2095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88" b="0">
                <a:solidFill>
                  <a:srgbClr val="5C6470"/>
                </a:solidFill>
                <a:latin typeface="Arial"/>
                <a:ea typeface="Arial"/>
                <a:cs typeface="Arial"/>
              </a:defRPr>
            </a:pPr>
            <a:r>
              <a:rPr sz="788" b="0">
                <a:solidFill>
                  <a:srgbClr val="5C6470"/>
                </a:solidFill>
                <a:latin typeface="Arial"/>
                <a:ea typeface="Arial"/>
                <a:cs typeface="Arial"/>
              </a:rPr>
              <a:t>Signed SVCB metadata</a:t>
            </a:r>
          </a:p>
        </p:txBody>
      </p:sp>
      <p:sp>
        <p:nvSpPr>
          <p:cNvPr id="17" name="">
            <a:extLst xmlns:a="http://schemas.openxmlformats.org/drawingml/2006/main">
              <a:ext uri="{FF2B5EF4-FFF2-40B4-BE49-F238E27FC236}">
                <a16:creationId xmlns:a16="http://schemas.microsoft.com/office/drawing/2014/main" id="{6441A4AB-6B02-4429-9814-B1941727B256}"/>
              </a:ext>
            </a:extLst>
          </p:cNvPr>
          <p:cNvSpPr>
            <a:spLocks xmlns:a="http://schemas.openxmlformats.org/drawingml/2006/main" noGrp="1"/>
          </p:cNvSpPr>
          <p:nvPr/>
        </p:nvSpPr>
        <p:spPr>
          <a:xfrm xmlns:a="http://schemas.openxmlformats.org/drawingml/2006/main">
            <a:off x="3324225" y="1533525"/>
            <a:ext cx="12858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788" b="0">
                <a:solidFill>
                  <a:srgbClr val="5C6470"/>
                </a:solidFill>
                <a:latin typeface="Arial"/>
                <a:ea typeface="Arial"/>
                <a:cs typeface="Arial"/>
              </a:defRPr>
            </a:pPr>
            <a:r>
              <a:rPr sz="788" b="0">
                <a:solidFill>
                  <a:srgbClr val="5C6470"/>
                </a:solidFill>
                <a:latin typeface="Arial"/>
                <a:ea typeface="Arial"/>
                <a:cs typeface="Arial"/>
              </a:rPr>
              <a:t>Signed A record</a:t>
            </a:r>
          </a:p>
        </p:txBody>
      </p:sp>
      <p:sp>
        <p:nvSpPr>
          <p:cNvPr id="18" name="">
            <a:extLst xmlns:a="http://schemas.openxmlformats.org/drawingml/2006/main">
              <a:ext uri="{FF2B5EF4-FFF2-40B4-BE49-F238E27FC236}">
                <a16:creationId xmlns:a16="http://schemas.microsoft.com/office/drawing/2014/main" id="{8D82E28D-EE94-4EEF-AA93-4FC1B9185359}"/>
              </a:ext>
            </a:extLst>
          </p:cNvPr>
          <p:cNvSpPr>
            <a:spLocks xmlns:a="http://schemas.openxmlformats.org/drawingml/2006/main" noGrp="1"/>
          </p:cNvSpPr>
          <p:nvPr/>
        </p:nvSpPr>
        <p:spPr>
          <a:xfrm xmlns:a="http://schemas.openxmlformats.org/drawingml/2006/main">
            <a:off x="266700" y="250507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7178C"/>
                </a:solidFill>
                <a:latin typeface="Arial"/>
                <a:ea typeface="Arial"/>
                <a:cs typeface="Arial"/>
              </a:defRPr>
            </a:pPr>
            <a:r>
              <a:rPr sz="1050" b="1">
                <a:solidFill>
                  <a:srgbClr val="17178C"/>
                </a:solidFill>
                <a:latin typeface="Arial"/>
                <a:ea typeface="Arial"/>
                <a:cs typeface="Arial"/>
              </a:rPr>
              <a:t>Invalid signatures or metadata stop discovery.</a:t>
            </a:r>
          </a:p>
          <a:p xmlns:a="http://schemas.openxmlformats.org/drawingml/2006/main">
            <a:pPr algn="l">
              <a:defRPr sz="1050" b="1">
                <a:solidFill>
                  <a:srgbClr val="17178C"/>
                </a:solidFill>
                <a:latin typeface="Arial"/>
                <a:ea typeface="Arial"/>
                <a:cs typeface="Arial"/>
              </a:defRPr>
            </a:pPr>
            <a:r>
              <a:rPr sz="1050" b="1">
                <a:solidFill>
                  <a:srgbClr val="17178C"/>
                </a:solidFill>
                <a:latin typeface="Arial"/>
                <a:ea typeface="Arial"/>
                <a:cs typeface="Arial"/>
              </a:rPr>
              <a:t>Connection failures or rejected credentials stop invocation.</a:t>
            </a:r>
          </a:p>
        </p:txBody>
      </p:sp>
    </p:spTree>
    <p:extLst>
      <p:ext uri="{BB962C8B-B14F-4D97-AF65-F5344CB8AC3E}">
        <p14:creationId xmlns:p14="http://schemas.microsoft.com/office/powerpoint/2010/main" val="13134239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7E459B-8742-4EFA-BE9F-2847D28DE078}"/>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Deployment Timeline</a:t>
            </a:r>
          </a:p>
        </p:txBody>
      </p:sp>
      <p:sp>
        <p:nvSpPr>
          <p:cNvPr id="2" name="">
            <a:extLst xmlns:a="http://schemas.openxmlformats.org/drawingml/2006/main">
              <a:ext uri="{FF2B5EF4-FFF2-40B4-BE49-F238E27FC236}">
                <a16:creationId xmlns:a16="http://schemas.microsoft.com/office/drawing/2014/main" id="{80FAEC49-F04B-478C-A3AF-983745F89EE4}"/>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Deployment Timeline</a:t>
            </a:r>
          </a:p>
        </p:txBody>
      </p:sp>
      <p:sp>
        <p:nvSpPr>
          <p:cNvPr id="3" name="">
            <a:extLst xmlns:a="http://schemas.openxmlformats.org/drawingml/2006/main">
              <a:ext uri="{FF2B5EF4-FFF2-40B4-BE49-F238E27FC236}">
                <a16:creationId xmlns:a16="http://schemas.microsoft.com/office/drawing/2014/main" id="{C0391EF5-036F-454F-B753-410289719DE9}"/>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03285DD6-6E02-4FAD-8318-4AC50E2B10A9}"/>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9 / 11</a:t>
            </a:r>
          </a:p>
        </p:txBody>
      </p:sp>
      <p:sp>
        <p:nvSpPr>
          <p:cNvPr id="5" name="">
            <a:extLst xmlns:a="http://schemas.openxmlformats.org/drawingml/2006/main">
              <a:ext uri="{FF2B5EF4-FFF2-40B4-BE49-F238E27FC236}">
                <a16:creationId xmlns:a16="http://schemas.microsoft.com/office/drawing/2014/main" id="{559D3A9E-7B01-4DFA-8B3D-508CA6D2DA7E}"/>
              </a:ext>
            </a:extLst>
          </p:cNvPr>
          <p:cNvSpPr>
            <a:spLocks xmlns:a="http://schemas.openxmlformats.org/drawingml/2006/main" noGrp="1"/>
          </p:cNvSpPr>
          <p:nvPr/>
        </p:nvSpPr>
        <p:spPr>
          <a:xfrm xmlns:a="http://schemas.openxmlformats.org/drawingml/2006/main">
            <a:off x="266700" y="80010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8-10 October: preparation</a:t>
            </a:r>
          </a:p>
        </p:txBody>
      </p:sp>
      <p:sp>
        <p:nvSpPr>
          <p:cNvPr id="6" name="">
            <a:extLst xmlns:a="http://schemas.openxmlformats.org/drawingml/2006/main">
              <a:ext uri="{FF2B5EF4-FFF2-40B4-BE49-F238E27FC236}">
                <a16:creationId xmlns:a16="http://schemas.microsoft.com/office/drawing/2014/main" id="{CFED5268-62BD-41D5-A147-5E2AEB110976}"/>
              </a:ext>
            </a:extLst>
          </p:cNvPr>
          <p:cNvSpPr>
            <a:spLocks xmlns:a="http://schemas.openxmlformats.org/drawingml/2006/main" noGrp="1"/>
          </p:cNvSpPr>
          <p:nvPr/>
        </p:nvSpPr>
        <p:spPr>
          <a:xfrm xmlns:a="http://schemas.openxmlformats.org/drawingml/2006/main">
            <a:off x="266700" y="1028700"/>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Review scope with the mentor, finalize the proposal and resolve the GitHub setup questions.</a:t>
            </a:r>
          </a:p>
        </p:txBody>
      </p:sp>
      <p:sp>
        <p:nvSpPr>
          <p:cNvPr id="7" name="">
            <a:extLst xmlns:a="http://schemas.openxmlformats.org/drawingml/2006/main">
              <a:ext uri="{FF2B5EF4-FFF2-40B4-BE49-F238E27FC236}">
                <a16:creationId xmlns:a16="http://schemas.microsoft.com/office/drawing/2014/main" id="{3E326DCA-013D-4132-A379-E42760E1A0AC}"/>
              </a:ext>
            </a:extLst>
          </p:cNvPr>
          <p:cNvSpPr>
            <a:spLocks xmlns:a="http://schemas.openxmlformats.org/drawingml/2006/main" noGrp="1"/>
          </p:cNvSpPr>
          <p:nvPr/>
        </p:nvSpPr>
        <p:spPr>
          <a:xfrm xmlns:a="http://schemas.openxmlformats.org/drawingml/2006/main">
            <a:off x="266700" y="1438275"/>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11-13 October: Level 1 materials</a:t>
            </a:r>
          </a:p>
        </p:txBody>
      </p:sp>
      <p:sp>
        <p:nvSpPr>
          <p:cNvPr id="8" name="">
            <a:extLst xmlns:a="http://schemas.openxmlformats.org/drawingml/2006/main">
              <a:ext uri="{FF2B5EF4-FFF2-40B4-BE49-F238E27FC236}">
                <a16:creationId xmlns:a16="http://schemas.microsoft.com/office/drawing/2014/main" id="{20B5E76D-84FA-42BE-80E8-C9B5B918F1A4}"/>
              </a:ext>
            </a:extLst>
          </p:cNvPr>
          <p:cNvSpPr>
            <a:spLocks xmlns:a="http://schemas.openxmlformats.org/drawingml/2006/main" noGrp="1"/>
          </p:cNvSpPr>
          <p:nvPr/>
        </p:nvSpPr>
        <p:spPr>
          <a:xfrm xmlns:a="http://schemas.openxmlformats.org/drawingml/2006/main">
            <a:off x="266700" y="16668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Record each member, upload the PDF and video link, and confirm repository access and transfer.</a:t>
            </a:r>
          </a:p>
        </p:txBody>
      </p:sp>
      <p:sp>
        <p:nvSpPr>
          <p:cNvPr id="9" name="">
            <a:extLst xmlns:a="http://schemas.openxmlformats.org/drawingml/2006/main">
              <a:ext uri="{FF2B5EF4-FFF2-40B4-BE49-F238E27FC236}">
                <a16:creationId xmlns:a16="http://schemas.microsoft.com/office/drawing/2014/main" id="{048AD4E5-ED7A-45EC-918F-A3B61917AB8C}"/>
              </a:ext>
            </a:extLst>
          </p:cNvPr>
          <p:cNvSpPr>
            <a:spLocks xmlns:a="http://schemas.openxmlformats.org/drawingml/2006/main" noGrp="1"/>
          </p:cNvSpPr>
          <p:nvPr/>
        </p:nvSpPr>
        <p:spPr>
          <a:xfrm xmlns:a="http://schemas.openxmlformats.org/drawingml/2006/main">
            <a:off x="266700" y="207645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1">
                <a:solidFill>
                  <a:srgbClr val="20242A"/>
                </a:solidFill>
                <a:latin typeface="Arial"/>
                <a:ea typeface="Arial"/>
                <a:cs typeface="Arial"/>
              </a:defRPr>
            </a:pPr>
            <a:r>
              <a:rPr sz="1200" b="1">
                <a:solidFill>
                  <a:srgbClr val="20242A"/>
                </a:solidFill>
                <a:latin typeface="Arial"/>
                <a:ea typeface="Arial"/>
                <a:cs typeface="Arial"/>
              </a:rPr>
              <a:t>14 October: Level 1 deadline</a:t>
            </a:r>
          </a:p>
        </p:txBody>
      </p:sp>
      <p:sp>
        <p:nvSpPr>
          <p:cNvPr id="10" name="">
            <a:extLst xmlns:a="http://schemas.openxmlformats.org/drawingml/2006/main">
              <a:ext uri="{FF2B5EF4-FFF2-40B4-BE49-F238E27FC236}">
                <a16:creationId xmlns:a16="http://schemas.microsoft.com/office/drawing/2014/main" id="{8F3FB95F-5AEA-49B3-BC57-5A803138EDC2}"/>
              </a:ext>
            </a:extLst>
          </p:cNvPr>
          <p:cNvSpPr>
            <a:spLocks xmlns:a="http://schemas.openxmlformats.org/drawingml/2006/main" noGrp="1"/>
          </p:cNvSpPr>
          <p:nvPr/>
        </p:nvSpPr>
        <p:spPr>
          <a:xfrm xmlns:a="http://schemas.openxmlformats.org/drawingml/2006/main">
            <a:off x="266700" y="2305050"/>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0">
                <a:solidFill>
                  <a:srgbClr val="20242A"/>
                </a:solidFill>
                <a:latin typeface="Arial"/>
                <a:ea typeface="Arial"/>
                <a:cs typeface="Arial"/>
              </a:defRPr>
            </a:pPr>
            <a:r>
              <a:rPr sz="1088" b="0">
                <a:solidFill>
                  <a:srgbClr val="20242A"/>
                </a:solidFill>
                <a:latin typeface="Arial"/>
                <a:ea typeface="Arial"/>
                <a:cs typeface="Arial"/>
              </a:rPr>
              <a:t>Complete steps 1-7. During 16-31 October, continue mentoring, code and demo delivery.</a:t>
            </a:r>
          </a:p>
        </p:txBody>
      </p:sp>
      <p:sp>
        <p:nvSpPr>
          <p:cNvPr id="11" name="">
            <a:extLst xmlns:a="http://schemas.openxmlformats.org/drawingml/2006/main">
              <a:ext uri="{FF2B5EF4-FFF2-40B4-BE49-F238E27FC236}">
                <a16:creationId xmlns:a16="http://schemas.microsoft.com/office/drawing/2014/main" id="{C182A6BC-DE10-4B66-92F3-9D5070B39D92}"/>
              </a:ext>
            </a:extLst>
          </p:cNvPr>
          <p:cNvSpPr>
            <a:spLocks xmlns:a="http://schemas.openxmlformats.org/drawingml/2006/main" noGrp="1"/>
          </p:cNvSpPr>
          <p:nvPr/>
        </p:nvSpPr>
        <p:spPr>
          <a:xfrm xmlns:a="http://schemas.openxmlformats.org/drawingml/2006/main">
            <a:off x="266700" y="2781300"/>
            <a:ext cx="5219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5C6470"/>
                </a:solidFill>
                <a:latin typeface="Arial"/>
                <a:ea typeface="Arial"/>
                <a:cs typeface="Arial"/>
              </a:defRPr>
            </a:pPr>
            <a:r>
              <a:rPr sz="863" b="0">
                <a:solidFill>
                  <a:srgbClr val="5C6470"/>
                </a:solidFill>
                <a:latin typeface="Arial"/>
                <a:ea typeface="Arial"/>
                <a:cs typeface="Arial"/>
              </a:rPr>
              <a:t>13 October is our suggested readiness target, not an organizer-issued deadline.</a:t>
            </a:r>
          </a:p>
        </p:txBody>
      </p:sp>
    </p:spTree>
    <p:extLst>
      <p:ext uri="{BB962C8B-B14F-4D97-AF65-F5344CB8AC3E}">
        <p14:creationId xmlns:p14="http://schemas.microsoft.com/office/powerpoint/2010/main" val="9921294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8459F8-1C9E-497A-8A54-AC23586A7865}"/>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Bibliography</a:t>
            </a:r>
          </a:p>
        </p:txBody>
      </p:sp>
      <p:sp>
        <p:nvSpPr>
          <p:cNvPr id="2" name="">
            <a:extLst xmlns:a="http://schemas.openxmlformats.org/drawingml/2006/main">
              <a:ext uri="{FF2B5EF4-FFF2-40B4-BE49-F238E27FC236}">
                <a16:creationId xmlns:a16="http://schemas.microsoft.com/office/drawing/2014/main" id="{4E542A1B-A164-44F4-A923-12BE9D3DCDCC}"/>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Bibliography</a:t>
            </a:r>
          </a:p>
        </p:txBody>
      </p:sp>
      <p:sp>
        <p:nvSpPr>
          <p:cNvPr id="3" name="">
            <a:extLst xmlns:a="http://schemas.openxmlformats.org/drawingml/2006/main">
              <a:ext uri="{FF2B5EF4-FFF2-40B4-BE49-F238E27FC236}">
                <a16:creationId xmlns:a16="http://schemas.microsoft.com/office/drawing/2014/main" id="{CB6503AF-E867-42AD-A62C-DF99E600BD6E}"/>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FE8CDE33-7894-4F7B-B7E2-DD3D92252DDF}"/>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10 / 11</a:t>
            </a:r>
          </a:p>
        </p:txBody>
      </p:sp>
      <p:sp>
        <p:nvSpPr>
          <p:cNvPr id="5" name="">
            <a:extLst xmlns:a="http://schemas.openxmlformats.org/drawingml/2006/main">
              <a:ext uri="{FF2B5EF4-FFF2-40B4-BE49-F238E27FC236}">
                <a16:creationId xmlns:a16="http://schemas.microsoft.com/office/drawing/2014/main" id="{B0F47EDD-8171-4AB8-85FC-7272BBB95A80}"/>
              </a:ext>
            </a:extLst>
          </p:cNvPr>
          <p:cNvSpPr>
            <a:spLocks xmlns:a="http://schemas.openxmlformats.org/drawingml/2006/main" noGrp="1"/>
          </p:cNvSpPr>
          <p:nvPr/>
        </p:nvSpPr>
        <p:spPr>
          <a:xfrm xmlns:a="http://schemas.openxmlformats.org/drawingml/2006/main">
            <a:off x="266700" y="819150"/>
            <a:ext cx="5219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20242A"/>
                </a:solidFill>
                <a:latin typeface="Arial"/>
                <a:ea typeface="Arial"/>
                <a:cs typeface="Arial"/>
              </a:defRPr>
            </a:pPr>
            <a:r>
              <a:rPr sz="1088" b="1">
                <a:solidFill>
                  <a:srgbClr val="20242A"/>
                </a:solidFill>
                <a:latin typeface="Arial"/>
                <a:ea typeface="Arial"/>
                <a:cs typeface="Arial"/>
              </a:rPr>
              <a:t>[1] DNS-AID draft -02</a:t>
            </a:r>
          </a:p>
        </p:txBody>
      </p:sp>
      <p:sp>
        <p:nvSpPr>
          <p:cNvPr id="6" name="">
            <a:extLst xmlns:a="http://schemas.openxmlformats.org/drawingml/2006/main">
              <a:ext uri="{FF2B5EF4-FFF2-40B4-BE49-F238E27FC236}">
                <a16:creationId xmlns:a16="http://schemas.microsoft.com/office/drawing/2014/main" id="{69A26585-A2C9-4D25-BFF5-0A4FDC5DF2AF}"/>
              </a:ext>
            </a:extLst>
          </p:cNvPr>
          <p:cNvSpPr>
            <a:spLocks xmlns:a="http://schemas.openxmlformats.org/drawingml/2006/main" noGrp="1"/>
          </p:cNvSpPr>
          <p:nvPr/>
        </p:nvSpPr>
        <p:spPr>
          <a:xfrm xmlns:a="http://schemas.openxmlformats.org/drawingml/2006/main">
            <a:off x="266700" y="102870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60" b="0">
                <a:solidFill>
                  <a:srgbClr val="5C6470"/>
                </a:solidFill>
                <a:latin typeface="Arial"/>
                <a:ea typeface="Arial"/>
                <a:cs typeface="Arial"/>
              </a:defRPr>
            </a:pPr>
            <a:r>
              <a:rPr sz="960" b="0">
                <a:solidFill>
                  <a:srgbClr val="5C6470"/>
                </a:solidFill>
                <a:latin typeface="Arial"/>
                <a:ea typeface="Arial"/>
                <a:cs typeface="Arial"/>
              </a:rPr>
              <a:t>Mozley et al., 27 May 2026. Individual Internet-Draft.</a:t>
            </a:r>
          </a:p>
        </p:txBody>
      </p:sp>
      <p:sp>
        <p:nvSpPr>
          <p:cNvPr id="7" name="">
            <a:extLst xmlns:a="http://schemas.openxmlformats.org/drawingml/2006/main">
              <a:ext uri="{FF2B5EF4-FFF2-40B4-BE49-F238E27FC236}">
                <a16:creationId xmlns:a16="http://schemas.microsoft.com/office/drawing/2014/main" id="{FE75A598-1505-4430-8284-7041301741FD}"/>
              </a:ext>
            </a:extLst>
          </p:cNvPr>
          <p:cNvSpPr>
            <a:spLocks xmlns:a="http://schemas.openxmlformats.org/drawingml/2006/main" noGrp="1"/>
          </p:cNvSpPr>
          <p:nvPr/>
        </p:nvSpPr>
        <p:spPr>
          <a:xfrm xmlns:a="http://schemas.openxmlformats.org/drawingml/2006/main">
            <a:off x="266700" y="1314450"/>
            <a:ext cx="5219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20242A"/>
                </a:solidFill>
                <a:latin typeface="Arial"/>
                <a:ea typeface="Arial"/>
                <a:cs typeface="Arial"/>
              </a:defRPr>
            </a:pPr>
            <a:r>
              <a:rPr sz="1088" b="1">
                <a:solidFill>
                  <a:srgbClr val="20242A"/>
                </a:solidFill>
                <a:latin typeface="Arial"/>
                <a:ea typeface="Arial"/>
                <a:cs typeface="Arial"/>
              </a:rPr>
              <a:t>[2] RFC 9460</a:t>
            </a:r>
          </a:p>
        </p:txBody>
      </p:sp>
      <p:sp>
        <p:nvSpPr>
          <p:cNvPr id="8" name="">
            <a:extLst xmlns:a="http://schemas.openxmlformats.org/drawingml/2006/main">
              <a:ext uri="{FF2B5EF4-FFF2-40B4-BE49-F238E27FC236}">
                <a16:creationId xmlns:a16="http://schemas.microsoft.com/office/drawing/2014/main" id="{ADDD5DFD-702E-4EA3-B548-E3C32D37F4D4}"/>
              </a:ext>
            </a:extLst>
          </p:cNvPr>
          <p:cNvSpPr>
            <a:spLocks xmlns:a="http://schemas.openxmlformats.org/drawingml/2006/main" noGrp="1"/>
          </p:cNvSpPr>
          <p:nvPr/>
        </p:nvSpPr>
        <p:spPr>
          <a:xfrm xmlns:a="http://schemas.openxmlformats.org/drawingml/2006/main">
            <a:off x="266700" y="152400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60" b="0">
                <a:solidFill>
                  <a:srgbClr val="5C6470"/>
                </a:solidFill>
                <a:latin typeface="Arial"/>
                <a:ea typeface="Arial"/>
                <a:cs typeface="Arial"/>
              </a:defRPr>
            </a:pPr>
            <a:r>
              <a:rPr sz="960" b="0">
                <a:solidFill>
                  <a:srgbClr val="5C6470"/>
                </a:solidFill>
                <a:latin typeface="Arial"/>
                <a:ea typeface="Arial"/>
                <a:cs typeface="Arial"/>
              </a:rPr>
              <a:t>Service Binding and Parameter Specification via the DNS.</a:t>
            </a:r>
          </a:p>
        </p:txBody>
      </p:sp>
      <p:sp>
        <p:nvSpPr>
          <p:cNvPr id="9" name="">
            <a:extLst xmlns:a="http://schemas.openxmlformats.org/drawingml/2006/main">
              <a:ext uri="{FF2B5EF4-FFF2-40B4-BE49-F238E27FC236}">
                <a16:creationId xmlns:a16="http://schemas.microsoft.com/office/drawing/2014/main" id="{FA3D1BAA-A75A-4D3C-9BD4-B93CF4406290}"/>
              </a:ext>
            </a:extLst>
          </p:cNvPr>
          <p:cNvSpPr>
            <a:spLocks xmlns:a="http://schemas.openxmlformats.org/drawingml/2006/main" noGrp="1"/>
          </p:cNvSpPr>
          <p:nvPr/>
        </p:nvSpPr>
        <p:spPr>
          <a:xfrm xmlns:a="http://schemas.openxmlformats.org/drawingml/2006/main">
            <a:off x="266700" y="1809750"/>
            <a:ext cx="5219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20242A"/>
                </a:solidFill>
                <a:latin typeface="Arial"/>
                <a:ea typeface="Arial"/>
                <a:cs typeface="Arial"/>
              </a:defRPr>
            </a:pPr>
            <a:r>
              <a:rPr sz="1088" b="1">
                <a:solidFill>
                  <a:srgbClr val="20242A"/>
                </a:solidFill>
                <a:latin typeface="Arial"/>
                <a:ea typeface="Arial"/>
                <a:cs typeface="Arial"/>
              </a:rPr>
              <a:t>[3] RFC 4033, RFC 4034 and RFC 4035</a:t>
            </a:r>
          </a:p>
        </p:txBody>
      </p:sp>
      <p:sp>
        <p:nvSpPr>
          <p:cNvPr id="10" name="">
            <a:extLst xmlns:a="http://schemas.openxmlformats.org/drawingml/2006/main">
              <a:ext uri="{FF2B5EF4-FFF2-40B4-BE49-F238E27FC236}">
                <a16:creationId xmlns:a16="http://schemas.microsoft.com/office/drawing/2014/main" id="{4759C33D-C9D8-48C4-BEB3-3EDA690E0F88}"/>
              </a:ext>
            </a:extLst>
          </p:cNvPr>
          <p:cNvSpPr>
            <a:spLocks xmlns:a="http://schemas.openxmlformats.org/drawingml/2006/main" noGrp="1"/>
          </p:cNvSpPr>
          <p:nvPr/>
        </p:nvSpPr>
        <p:spPr>
          <a:xfrm xmlns:a="http://schemas.openxmlformats.org/drawingml/2006/main">
            <a:off x="266700" y="201930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60" b="0">
                <a:solidFill>
                  <a:srgbClr val="5C6470"/>
                </a:solidFill>
                <a:latin typeface="Arial"/>
                <a:ea typeface="Arial"/>
                <a:cs typeface="Arial"/>
              </a:defRPr>
            </a:pPr>
            <a:r>
              <a:rPr sz="960" b="0">
                <a:solidFill>
                  <a:srgbClr val="5C6470"/>
                </a:solidFill>
                <a:latin typeface="Arial"/>
                <a:ea typeface="Arial"/>
                <a:cs typeface="Arial"/>
              </a:rPr>
              <a:t>DNSSEC requirements, resource records and protocol changes.</a:t>
            </a:r>
          </a:p>
        </p:txBody>
      </p:sp>
      <p:sp>
        <p:nvSpPr>
          <p:cNvPr id="11" name="">
            <a:extLst xmlns:a="http://schemas.openxmlformats.org/drawingml/2006/main">
              <a:ext uri="{FF2B5EF4-FFF2-40B4-BE49-F238E27FC236}">
                <a16:creationId xmlns:a16="http://schemas.microsoft.com/office/drawing/2014/main" id="{1F16E908-82A6-4C69-A163-7D0CB2DAC3D3}"/>
              </a:ext>
            </a:extLst>
          </p:cNvPr>
          <p:cNvSpPr>
            <a:spLocks xmlns:a="http://schemas.openxmlformats.org/drawingml/2006/main" noGrp="1"/>
          </p:cNvSpPr>
          <p:nvPr/>
        </p:nvSpPr>
        <p:spPr>
          <a:xfrm xmlns:a="http://schemas.openxmlformats.org/drawingml/2006/main">
            <a:off x="266700" y="2305050"/>
            <a:ext cx="52197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88" b="1">
                <a:solidFill>
                  <a:srgbClr val="20242A"/>
                </a:solidFill>
                <a:latin typeface="Arial"/>
                <a:ea typeface="Arial"/>
                <a:cs typeface="Arial"/>
              </a:defRPr>
            </a:pPr>
            <a:r>
              <a:rPr sz="1088" b="1">
                <a:solidFill>
                  <a:srgbClr val="20242A"/>
                </a:solidFill>
                <a:latin typeface="Arial"/>
                <a:ea typeface="Arial"/>
                <a:cs typeface="Arial"/>
              </a:rPr>
              <a:t>[4] AIORI-3 organizer materials</a:t>
            </a:r>
          </a:p>
        </p:txBody>
      </p:sp>
      <p:sp>
        <p:nvSpPr>
          <p:cNvPr id="12" name="">
            <a:extLst xmlns:a="http://schemas.openxmlformats.org/drawingml/2006/main">
              <a:ext uri="{FF2B5EF4-FFF2-40B4-BE49-F238E27FC236}">
                <a16:creationId xmlns:a16="http://schemas.microsoft.com/office/drawing/2014/main" id="{A39D2091-50C1-4886-8381-9D9E899060F0}"/>
              </a:ext>
            </a:extLst>
          </p:cNvPr>
          <p:cNvSpPr>
            <a:spLocks xmlns:a="http://schemas.openxmlformats.org/drawingml/2006/main" noGrp="1"/>
          </p:cNvSpPr>
          <p:nvPr/>
        </p:nvSpPr>
        <p:spPr>
          <a:xfrm xmlns:a="http://schemas.openxmlformats.org/drawingml/2006/main">
            <a:off x="266700" y="2514600"/>
            <a:ext cx="5219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60" b="0">
                <a:solidFill>
                  <a:srgbClr val="5C6470"/>
                </a:solidFill>
                <a:latin typeface="Arial"/>
                <a:ea typeface="Arial"/>
                <a:cs typeface="Arial"/>
              </a:defRPr>
            </a:pPr>
            <a:r>
              <a:rPr sz="960" b="0">
                <a:solidFill>
                  <a:srgbClr val="5C6470"/>
                </a:solidFill>
                <a:latin typeface="Arial"/>
                <a:ea typeface="Arial"/>
                <a:cs typeface="Arial"/>
              </a:rPr>
              <a:t>PS-033, presentation structure and online hackathon guidelines.</a:t>
            </a:r>
          </a:p>
        </p:txBody>
      </p:sp>
      <p:sp>
        <p:nvSpPr>
          <p:cNvPr id="13" name="">
            <a:extLst xmlns:a="http://schemas.openxmlformats.org/drawingml/2006/main">
              <a:ext uri="{FF2B5EF4-FFF2-40B4-BE49-F238E27FC236}">
                <a16:creationId xmlns:a16="http://schemas.microsoft.com/office/drawing/2014/main" id="{2D2B1D41-BB6F-4512-8F89-5E6EA1A553C1}"/>
              </a:ext>
            </a:extLst>
          </p:cNvPr>
          <p:cNvSpPr>
            <a:spLocks xmlns:a="http://schemas.openxmlformats.org/drawingml/2006/main" noGrp="1"/>
          </p:cNvSpPr>
          <p:nvPr/>
        </p:nvSpPr>
        <p:spPr>
          <a:xfrm xmlns:a="http://schemas.openxmlformats.org/drawingml/2006/main">
            <a:off x="266700" y="2809875"/>
            <a:ext cx="52197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88" b="0">
                <a:solidFill>
                  <a:srgbClr val="5C6470"/>
                </a:solidFill>
                <a:latin typeface="Arial"/>
                <a:ea typeface="Arial"/>
                <a:cs typeface="Arial"/>
              </a:defRPr>
            </a:pPr>
            <a:r>
              <a:rPr sz="788" b="0">
                <a:solidFill>
                  <a:srgbClr val="5C6470"/>
                </a:solidFill>
                <a:latin typeface="Arial"/>
                <a:ea typeface="Arial"/>
                <a:cs typeface="Arial"/>
              </a:rPr>
              <a:t>Draft ID: draft-mozleywilliams-dnsop-dnsaid-02</a:t>
            </a:r>
          </a:p>
        </p:txBody>
      </p:sp>
    </p:spTree>
    <p:extLst>
      <p:ext uri="{BB962C8B-B14F-4D97-AF65-F5344CB8AC3E}">
        <p14:creationId xmlns:p14="http://schemas.microsoft.com/office/powerpoint/2010/main" val="8680265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84CAAC-C205-4A58-899D-1E65C28DEDFA}"/>
              </a:ext>
            </a:extLst>
          </p:cNvPr>
          <p:cNvSpPr>
            <a:spLocks xmlns:a="http://schemas.openxmlformats.org/drawingml/2006/main" noGrp="1"/>
          </p:cNvSpPr>
          <p:nvPr/>
        </p:nvSpPr>
        <p:spPr>
          <a:xfrm xmlns:a="http://schemas.openxmlformats.org/drawingml/2006/main">
            <a:off x="228600" y="323850"/>
            <a:ext cx="5314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6A5558DB-33F8-4862-9171-CF5E40F71501}"/>
              </a:ext>
            </a:extLst>
          </p:cNvPr>
          <p:cNvSpPr>
            <a:spLocks xmlns:a="http://schemas.openxmlformats.org/drawingml/2006/main" noGrp="1"/>
          </p:cNvSpPr>
          <p:nvPr/>
        </p:nvSpPr>
        <p:spPr>
          <a:xfrm xmlns:a="http://schemas.openxmlformats.org/drawingml/2006/main">
            <a:off x="3143250" y="66675"/>
            <a:ext cx="23431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1">
                <a:solidFill>
                  <a:srgbClr val="17178C"/>
                </a:solidFill>
                <a:latin typeface="Arial"/>
                <a:ea typeface="Arial"/>
                <a:cs typeface="Arial"/>
              </a:defRPr>
            </a:pPr>
            <a:r>
              <a:rPr sz="600" b="1">
                <a:solidFill>
                  <a:srgbClr val="17178C"/>
                </a:solidFill>
                <a:latin typeface="Arial"/>
                <a:ea typeface="Arial"/>
                <a:cs typeface="Arial"/>
              </a:rPr>
              <a:t>AIORI 3    Questions</a:t>
            </a:r>
          </a:p>
        </p:txBody>
      </p:sp>
      <p:sp>
        <p:nvSpPr>
          <p:cNvPr id="3" name="">
            <a:extLst xmlns:a="http://schemas.openxmlformats.org/drawingml/2006/main">
              <a:ext uri="{FF2B5EF4-FFF2-40B4-BE49-F238E27FC236}">
                <a16:creationId xmlns:a16="http://schemas.microsoft.com/office/drawing/2014/main" id="{F136BEFC-3609-4699-8681-8D072D494FBF}"/>
              </a:ext>
            </a:extLst>
          </p:cNvPr>
          <p:cNvSpPr>
            <a:spLocks xmlns:a="http://schemas.openxmlformats.org/drawingml/2006/main" noGrp="1"/>
          </p:cNvSpPr>
          <p:nvPr/>
        </p:nvSpPr>
        <p:spPr>
          <a:xfrm xmlns:a="http://schemas.openxmlformats.org/drawingml/2006/main">
            <a:off x="228600" y="3028950"/>
            <a:ext cx="4476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00" b="0">
                <a:solidFill>
                  <a:srgbClr val="17178C"/>
                </a:solidFill>
                <a:latin typeface="Arial"/>
                <a:ea typeface="Arial"/>
                <a:cs typeface="Arial"/>
              </a:defRPr>
            </a:pPr>
            <a:r>
              <a:rPr sz="600" b="0">
                <a:solidFill>
                  <a:srgbClr val="17178C"/>
                </a:solidFill>
                <a:latin typeface="Arial"/>
                <a:ea typeface="Arial"/>
                <a:cs typeface="Arial"/>
              </a:rPr>
              <a:t>A3-PS033-TC378    8 October 2026</a:t>
            </a:r>
          </a:p>
        </p:txBody>
      </p:sp>
      <p:sp>
        <p:nvSpPr>
          <p:cNvPr id="4" name="">
            <a:extLst xmlns:a="http://schemas.openxmlformats.org/drawingml/2006/main">
              <a:ext uri="{FF2B5EF4-FFF2-40B4-BE49-F238E27FC236}">
                <a16:creationId xmlns:a16="http://schemas.microsoft.com/office/drawing/2014/main" id="{F86416CE-BCBF-44D7-92DC-4FC5B788FC2E}"/>
              </a:ext>
            </a:extLst>
          </p:cNvPr>
          <p:cNvSpPr>
            <a:spLocks xmlns:a="http://schemas.openxmlformats.org/drawingml/2006/main" noGrp="1"/>
          </p:cNvSpPr>
          <p:nvPr/>
        </p:nvSpPr>
        <p:spPr>
          <a:xfrm xmlns:a="http://schemas.openxmlformats.org/drawingml/2006/main">
            <a:off x="4953000" y="3028950"/>
            <a:ext cx="5905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600" b="0">
                <a:solidFill>
                  <a:srgbClr val="17178C"/>
                </a:solidFill>
                <a:latin typeface="Arial"/>
                <a:ea typeface="Arial"/>
                <a:cs typeface="Arial"/>
              </a:defRPr>
            </a:pPr>
            <a:r>
              <a:rPr sz="600" b="0">
                <a:solidFill>
                  <a:srgbClr val="17178C"/>
                </a:solidFill>
                <a:latin typeface="Arial"/>
                <a:ea typeface="Arial"/>
                <a:cs typeface="Arial"/>
              </a:rPr>
              <a:t>11 / 11</a:t>
            </a:r>
          </a:p>
        </p:txBody>
      </p:sp>
      <p:sp>
        <p:nvSpPr>
          <p:cNvPr id="5" name="">
            <a:extLst xmlns:a="http://schemas.openxmlformats.org/drawingml/2006/main">
              <a:ext uri="{FF2B5EF4-FFF2-40B4-BE49-F238E27FC236}">
                <a16:creationId xmlns:a16="http://schemas.microsoft.com/office/drawing/2014/main" id="{D93BA18B-7013-4375-BF5F-A6ECFEF2B6D4}"/>
              </a:ext>
            </a:extLst>
          </p:cNvPr>
          <p:cNvSpPr>
            <a:spLocks xmlns:a="http://schemas.openxmlformats.org/drawingml/2006/main" noGrp="1"/>
          </p:cNvSpPr>
          <p:nvPr/>
        </p:nvSpPr>
        <p:spPr>
          <a:xfrm xmlns:a="http://schemas.openxmlformats.org/drawingml/2006/main">
            <a:off x="266700" y="952500"/>
            <a:ext cx="5219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178C"/>
                </a:solidFill>
                <a:latin typeface="Arial"/>
                <a:ea typeface="Arial"/>
                <a:cs typeface="Arial"/>
              </a:defRPr>
            </a:pPr>
            <a:r>
              <a:rPr sz="1800" b="1">
                <a:solidFill>
                  <a:srgbClr val="17178C"/>
                </a:solidFill>
                <a:latin typeface="Arial"/>
                <a:ea typeface="Arial"/>
                <a:cs typeface="Arial"/>
              </a:rPr>
              <a:t>A3-PS033-TC378</a:t>
            </a:r>
          </a:p>
        </p:txBody>
      </p:sp>
      <p:sp>
        <p:nvSpPr>
          <p:cNvPr id="6" name="">
            <a:extLst xmlns:a="http://schemas.openxmlformats.org/drawingml/2006/main">
              <a:ext uri="{FF2B5EF4-FFF2-40B4-BE49-F238E27FC236}">
                <a16:creationId xmlns:a16="http://schemas.microsoft.com/office/drawing/2014/main" id="{A5342D98-A36A-4F61-955B-0EFA1CA332E2}"/>
              </a:ext>
            </a:extLst>
          </p:cNvPr>
          <p:cNvSpPr>
            <a:spLocks xmlns:a="http://schemas.openxmlformats.org/drawingml/2006/main" noGrp="1"/>
          </p:cNvSpPr>
          <p:nvPr/>
        </p:nvSpPr>
        <p:spPr>
          <a:xfrm xmlns:a="http://schemas.openxmlformats.org/drawingml/2006/main">
            <a:off x="266700" y="1428750"/>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20242A"/>
                </a:solidFill>
                <a:latin typeface="Arial"/>
                <a:ea typeface="Arial"/>
                <a:cs typeface="Arial"/>
              </a:defRPr>
            </a:pPr>
            <a:r>
              <a:rPr sz="1725" b="1">
                <a:solidFill>
                  <a:srgbClr val="20242A"/>
                </a:solidFill>
                <a:latin typeface="Arial"/>
                <a:ea typeface="Arial"/>
                <a:cs typeface="Arial"/>
              </a:rPr>
              <a:t>One signed zone. Three mock services.</a:t>
            </a:r>
          </a:p>
          <a:p xmlns:a="http://schemas.openxmlformats.org/drawingml/2006/main">
            <a:pPr algn="l">
              <a:defRPr sz="1725" b="1">
                <a:solidFill>
                  <a:srgbClr val="20242A"/>
                </a:solidFill>
                <a:latin typeface="Arial"/>
                <a:ea typeface="Arial"/>
                <a:cs typeface="Arial"/>
              </a:defRPr>
            </a:pPr>
            <a:r>
              <a:rPr sz="1725" b="1">
                <a:solidFill>
                  <a:srgbClr val="20242A"/>
                </a:solidFill>
                <a:latin typeface="Arial"/>
                <a:ea typeface="Arial"/>
                <a:cs typeface="Arial"/>
              </a:rPr>
              <a:t>A client that checks before it invokes.</a:t>
            </a:r>
          </a:p>
        </p:txBody>
      </p:sp>
      <p:sp>
        <p:nvSpPr>
          <p:cNvPr id="7" name="">
            <a:extLst xmlns:a="http://schemas.openxmlformats.org/drawingml/2006/main">
              <a:ext uri="{FF2B5EF4-FFF2-40B4-BE49-F238E27FC236}">
                <a16:creationId xmlns:a16="http://schemas.microsoft.com/office/drawing/2014/main" id="{D26718DF-A385-443D-A0B9-D8B0A2A47CE2}"/>
              </a:ext>
            </a:extLst>
          </p:cNvPr>
          <p:cNvSpPr>
            <a:spLocks xmlns:a="http://schemas.openxmlformats.org/drawingml/2006/main" noGrp="1"/>
          </p:cNvSpPr>
          <p:nvPr/>
        </p:nvSpPr>
        <p:spPr>
          <a:xfrm xmlns:a="http://schemas.openxmlformats.org/drawingml/2006/main">
            <a:off x="266700" y="227647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20242A"/>
                </a:solidFill>
                <a:latin typeface="Arial"/>
                <a:ea typeface="Arial"/>
                <a:cs typeface="Arial"/>
              </a:defRPr>
            </a:pPr>
            <a:r>
              <a:rPr sz="1125" b="0">
                <a:solidFill>
                  <a:srgbClr val="20242A"/>
                </a:solidFill>
                <a:latin typeface="Arial"/>
                <a:ea typeface="Arial"/>
                <a:cs typeface="Arial"/>
              </a:rPr>
              <a:t>Chris Itty Biju and Alan Jayan Joseph</a:t>
            </a:r>
          </a:p>
          <a:p xmlns:a="http://schemas.openxmlformats.org/drawingml/2006/main">
            <a:pPr algn="l">
              <a:defRPr sz="1125" b="0">
                <a:solidFill>
                  <a:srgbClr val="20242A"/>
                </a:solidFill>
                <a:latin typeface="Arial"/>
                <a:ea typeface="Arial"/>
                <a:cs typeface="Arial"/>
              </a:defRPr>
            </a:pPr>
            <a:r>
              <a:rPr sz="1125" b="0">
                <a:solidFill>
                  <a:srgbClr val="20242A"/>
                </a:solidFill>
                <a:latin typeface="Arial"/>
                <a:ea typeface="Arial"/>
                <a:cs typeface="Arial"/>
              </a:rPr>
              <a:t>Faculty mentor: Revathi BS</a:t>
            </a:r>
          </a:p>
        </p:txBody>
      </p:sp>
    </p:spTree>
    <p:extLst>
      <p:ext uri="{BB962C8B-B14F-4D97-AF65-F5344CB8AC3E}">
        <p14:creationId xmlns:p14="http://schemas.microsoft.com/office/powerpoint/2010/main" val="973195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2026-10-08T10:47:12.1920000Z</dcterms:created>
  <dcterms:modified xsi:type="dcterms:W3CDTF">2026-10-08T10:47:12.1920000Z</dcterms:modified>
</coreProperties>
</file>